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9ec9e97-80ac-07b1-959f-ce8d7420223d}">
          <p14:sldIdLst>
            <p14:sldId id="256"/>
          </p14:sldIdLst>
        </p14:section>
        <p14:section name="Problem" id="{2e1774d4-4419-39fd-b568-7cd484a5b07b}">
          <p14:sldIdLst>
            <p14:sldId id="257"/>
          </p14:sldIdLst>
        </p14:section>
        <p14:section name="Findings" id="{9f8b20ef-b5ce-ca5b-bae1-8e517ed1962f}">
          <p14:sldIdLst>
            <p14:sldId id="258"/>
          </p14:sldIdLst>
        </p14:section>
        <p14:section name="The Fix" id="{ebb450e3-10e9-2044-b25a-731c9c8b916b}">
          <p14:sldIdLst>
            <p14:sldId id="259"/>
          </p14:sldIdLst>
        </p14:section>
        <p14:section name="New Addition" id="{1b7106e9-d239-132b-99a8-bf217a8c096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reverse-engineered Excalidraw, then rebuilt it. The deck covers the problem, the gaps we verified in the original, one fix (open Firebase rules) and one new feature (burn-after-read encrypted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diagramming tools put a login and a server you have to trust between you and a quick sketch. Excalidraw's core promise is the opposite: open the page and draw; collaboration and share links are end-to-end encrypted with the key in the URL hash, which browsers never send to the server. Our rebuild keeps that flow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original source rather than the docs, and every gap below cites an exact file and line. Gap 1 is the most serious: the Firestore rules let anyone write to any document. That is the one we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Firestore's 'write' permission covers create, update and delete, so 'allow get, write: if true' lets anyone with a room ID overwrite or delete that room's scene, and there is no size limit. Our rules split write into create and update, check that the document has only the three fields the app writes (sceneVersion, iv, ciphertext), cap the ciphertext at 2 MB, never let sceneVersion go backwards, and forbid deletes from clients. Storage gets the same treatment: create-only and size-capped. End-to-end encryption is unchanged, because the server still only sees ciphertext.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new feature: burn-after-read sketches. The sender picks a fuse (a number of views or a time limit). The scene is encrypted in the browser exactly as for normal share links, with the key only in the URL hash. The ciphertext goes to a locked collection along with viewsLeft and expiresAt. Opening the link calls a Cloud Function that runs a Firestore transaction: it checks expiry, decrements the view count, returns the ciphertext and deletes the document when the count reaches zero. A Firestore TTL policy cleans up expired links. The recipient decrypts locally and the scene opens in view-only mode (viewModeEnabled). Caveat: we can't stop screenshots. What we guarantee is that the server copy is gone. Demo: create a 1-view link, open it in one tab, then open it in a second tab and it has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65960"/>
            <a:ext cx="64008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3246120"/>
            <a:ext cx="6217920" cy="14630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Excalidraw, Rebuilt  ·  Hackback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Excalidraw, Rebuilt  ·  Hackback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417320"/>
            <a:ext cx="6400800" cy="365760"/>
          </a:xfrm>
          <a:prstGeom prst="rect">
            <a:avLst/>
          </a:prstGeom>
          <a:noFill/>
          <a:ln/>
        </p:spPr>
        <p:txBody>
          <a:bodyPr wrap="square" lIns="0" tIns="0" rIns="0" bIns="0" rtlCol="0" anchor="ctr"/>
          <a:lstStyle/>
          <a:p>
            <a:pPr indent="0" marL="0">
              <a:buNone/>
            </a:pPr>
            <a:r>
              <a:rPr lang="en-US" sz="1300" b="1" spc="300" kern="0" dirty="0">
                <a:solidFill>
                  <a:schemeClr val="accent1"/>
                </a:solidFill>
              </a:rPr>
              <a:t>HACKBACK 2026  ·  REVERSE-ENGINEER &amp; REBUILD</a:t>
            </a:r>
            <a:endParaRPr lang="en-US" sz="1300" dirty="0"/>
          </a:p>
        </p:txBody>
      </p:sp>
      <p:sp>
        <p:nvSpPr>
          <p:cNvPr id="3" name="Text 0"/>
          <p:cNvSpPr/>
          <p:nvPr>
            <p:ph idx="100" type="title" hasCustomPrompt="1"/>
          </p:nvPr>
        </p:nvSpPr>
        <p:spPr>
          <a:xfrm>
            <a:off x="640080" y="1965960"/>
            <a:ext cx="6400800" cy="1097280"/>
          </a:xfrm>
          <a:prstGeom prst="rect">
            <a:avLst/>
          </a:prstGeom>
          <a:noFill/>
          <a:ln/>
        </p:spPr>
        <p:txBody>
          <a:bodyPr wrap="square" lIns="0" tIns="0" rIns="0" bIns="0" rtlCol="0" anchor="ctr"/>
          <a:lstStyle/>
          <a:p>
            <a:pPr algn="l" indent="0" marL="0">
              <a:buNone/>
            </a:pPr>
            <a:r>
              <a:rPr lang="en-US" sz="5400" b="1" dirty="0">
                <a:solidFill>
                  <a:schemeClr val="bg1"/>
                </a:solidFill>
              </a:rPr>
              <a:t>Excalidraw, Rebuilt</a:t>
            </a:r>
            <a:endParaRPr lang="en-US" sz="5400" dirty="0"/>
          </a:p>
        </p:txBody>
      </p:sp>
      <p:sp>
        <p:nvSpPr>
          <p:cNvPr id="4" name="Text 0"/>
          <p:cNvSpPr/>
          <p:nvPr>
            <p:ph idx="101" type="body" hasCustomPrompt="1"/>
          </p:nvPr>
        </p:nvSpPr>
        <p:spPr>
          <a:xfrm>
            <a:off x="640080" y="3246120"/>
            <a:ext cx="6217920" cy="1463040"/>
          </a:xfrm>
          <a:prstGeom prst="rect">
            <a:avLst/>
          </a:prstGeom>
          <a:noFill/>
          <a:ln/>
        </p:spPr>
        <p:txBody>
          <a:bodyPr wrap="square" lIns="0" tIns="0" rIns="0" bIns="0" rtlCol="0" anchor="t"/>
          <a:lstStyle/>
          <a:p>
            <a:pPr indent="0" marL="0">
              <a:buNone/>
            </a:pPr>
            <a:r>
              <a:rPr lang="en-US" sz="2000" dirty="0">
                <a:solidFill>
                  <a:schemeClr val="accent5"/>
                </a:solidFill>
              </a:rPr>
              <a:t>Instant, zero-account, end-to-end encrypted whiteboarding. Local-first, so your sketches stay yours and the server never reads them.</a:t>
            </a:r>
            <a:endParaRPr lang="en-US" sz="2000" dirty="0"/>
          </a:p>
        </p:txBody>
      </p:sp>
      <p:sp>
        <p:nvSpPr>
          <p:cNvPr id="5" name="Fix Card"/>
          <p:cNvSpPr/>
          <p:nvPr/>
        </p:nvSpPr>
        <p:spPr>
          <a:xfrm>
            <a:off x="7635240" y="1463040"/>
            <a:ext cx="3931920" cy="1874520"/>
          </a:xfrm>
          <a:prstGeom prst="roundRect">
            <a:avLst>
              <a:gd name="adj" fmla="val 3902"/>
            </a:avLst>
          </a:prstGeom>
          <a:solidFill>
            <a:schemeClr val="bg1"/>
          </a:solidFill>
          <a:ln w="12700">
            <a:solidFill>
              <a:schemeClr val="bg1"/>
            </a:solidFill>
            <a:prstDash val="solid"/>
          </a:ln>
          <a:effectLst>
            <a:outerShdw sx="100000" sy="100000" kx="0" ky="0" algn="bl" rotWithShape="0" blurRad="101600" dist="63500" dir="2700000">
              <a:srgbClr val="6965DB">
                <a:alpha val="100000"/>
              </a:srgbClr>
            </a:outerShdw>
          </a:effectLst>
        </p:spPr>
      </p:sp>
      <p:pic>
        <p:nvPicPr>
          <p:cNvPr id="6" name="Fix Card Icon" descr="THE FIX icon">    </p:cNvPr>
          <p:cNvPicPr>
            <a:picLocks noChangeAspect="1"/>
          </p:cNvPicPr>
          <p:nvPr/>
        </p:nvPicPr>
        <p:blipFill>
          <a:blip r:embed="rId1"/>
          <a:stretch>
            <a:fillRect/>
          </a:stretch>
        </p:blipFill>
        <p:spPr>
          <a:xfrm>
            <a:off x="7909560" y="1737360"/>
            <a:ext cx="384048" cy="384048"/>
          </a:xfrm>
          <a:prstGeom prst="rect">
            <a:avLst/>
          </a:prstGeom>
        </p:spPr>
      </p:pic>
      <p:sp>
        <p:nvSpPr>
          <p:cNvPr id="7" name="Fix Card Tag"/>
          <p:cNvSpPr txBox="1"/>
          <p:nvPr/>
        </p:nvSpPr>
        <p:spPr>
          <a:xfrm>
            <a:off x="8458200" y="1737360"/>
            <a:ext cx="2926080" cy="384048"/>
          </a:xfrm>
          <a:prstGeom prst="rect">
            <a:avLst/>
          </a:prstGeom>
          <a:noFill/>
          <a:ln/>
        </p:spPr>
        <p:txBody>
          <a:bodyPr wrap="square" lIns="0" tIns="0" rIns="0" bIns="0" rtlCol="0" anchor="ctr"/>
          <a:lstStyle/>
          <a:p>
            <a:pPr indent="0" marL="0">
              <a:buNone/>
            </a:pPr>
            <a:r>
              <a:rPr lang="en-US" sz="1200" b="1" spc="200" kern="0" dirty="0">
                <a:solidFill>
                  <a:schemeClr val="accent1"/>
                </a:solidFill>
              </a:rPr>
              <a:t>THE FIX</a:t>
            </a:r>
            <a:endParaRPr lang="en-US" sz="1200" dirty="0"/>
          </a:p>
        </p:txBody>
      </p:sp>
      <p:sp>
        <p:nvSpPr>
          <p:cNvPr id="8" name="Fix Card Title"/>
          <p:cNvSpPr txBox="1"/>
          <p:nvPr/>
        </p:nvSpPr>
        <p:spPr>
          <a:xfrm>
            <a:off x="7909560" y="2240280"/>
            <a:ext cx="34290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Lock down open rules</a:t>
            </a:r>
            <a:endParaRPr lang="en-US" sz="2000" dirty="0"/>
          </a:p>
        </p:txBody>
      </p:sp>
      <p:sp>
        <p:nvSpPr>
          <p:cNvPr id="9" name="Fix Card Body"/>
          <p:cNvSpPr txBox="1"/>
          <p:nvPr/>
        </p:nvSpPr>
        <p:spPr>
          <a:xfrm>
            <a:off x="7909560" y="2651760"/>
            <a:ext cx="3429000" cy="548640"/>
          </a:xfrm>
          <a:prstGeom prst="rect">
            <a:avLst/>
          </a:prstGeom>
          <a:noFill/>
          <a:ln/>
        </p:spPr>
        <p:txBody>
          <a:bodyPr wrap="square" lIns="0" tIns="0" rIns="0" bIns="0" rtlCol="0" anchor="t"/>
          <a:lstStyle/>
          <a:p>
            <a:pPr indent="0" marL="0">
              <a:buNone/>
            </a:pPr>
            <a:r>
              <a:rPr lang="en-US" sz="1400" dirty="0">
                <a:solidFill>
                  <a:schemeClr val="tx2"/>
                </a:solidFill>
              </a:rPr>
              <a:t>Firebase let anyone overwrite or wipe any room.</a:t>
            </a:r>
            <a:endParaRPr lang="en-US" sz="1400" dirty="0"/>
          </a:p>
        </p:txBody>
      </p:sp>
      <p:sp>
        <p:nvSpPr>
          <p:cNvPr id="10" name="New Card"/>
          <p:cNvSpPr/>
          <p:nvPr/>
        </p:nvSpPr>
        <p:spPr>
          <a:xfrm>
            <a:off x="7635240" y="3749040"/>
            <a:ext cx="3931920" cy="1874520"/>
          </a:xfrm>
          <a:prstGeom prst="roundRect">
            <a:avLst>
              <a:gd name="adj" fmla="val 3902"/>
            </a:avLst>
          </a:prstGeom>
          <a:solidFill>
            <a:schemeClr val="bg1"/>
          </a:solidFill>
          <a:ln w="12700">
            <a:solidFill>
              <a:schemeClr val="bg1"/>
            </a:solidFill>
            <a:prstDash val="solid"/>
          </a:ln>
          <a:effectLst>
            <a:outerShdw sx="100000" sy="100000" kx="0" ky="0" algn="bl" rotWithShape="0" blurRad="101600" dist="63500" dir="2700000">
              <a:srgbClr val="FF6B3D">
                <a:alpha val="100000"/>
              </a:srgbClr>
            </a:outerShdw>
          </a:effectLst>
        </p:spPr>
      </p:sp>
      <p:pic>
        <p:nvPicPr>
          <p:cNvPr id="11" name="New Card Icon" descr="NEW ADDITION icon">    </p:cNvPr>
          <p:cNvPicPr>
            <a:picLocks noChangeAspect="1"/>
          </p:cNvPicPr>
          <p:nvPr/>
        </p:nvPicPr>
        <p:blipFill>
          <a:blip r:embed="rId2"/>
          <a:stretch>
            <a:fillRect/>
          </a:stretch>
        </p:blipFill>
        <p:spPr>
          <a:xfrm>
            <a:off x="7909560" y="4023360"/>
            <a:ext cx="384048" cy="384048"/>
          </a:xfrm>
          <a:prstGeom prst="rect">
            <a:avLst/>
          </a:prstGeom>
        </p:spPr>
      </p:pic>
      <p:sp>
        <p:nvSpPr>
          <p:cNvPr id="12" name="New Card Tag"/>
          <p:cNvSpPr txBox="1"/>
          <p:nvPr/>
        </p:nvSpPr>
        <p:spPr>
          <a:xfrm>
            <a:off x="8458200" y="4023360"/>
            <a:ext cx="2926080" cy="384048"/>
          </a:xfrm>
          <a:prstGeom prst="rect">
            <a:avLst/>
          </a:prstGeom>
          <a:noFill/>
          <a:ln/>
        </p:spPr>
        <p:txBody>
          <a:bodyPr wrap="square" lIns="0" tIns="0" rIns="0" bIns="0" rtlCol="0" anchor="ctr"/>
          <a:lstStyle/>
          <a:p>
            <a:pPr indent="0" marL="0">
              <a:buNone/>
            </a:pPr>
            <a:r>
              <a:rPr lang="en-US" sz="1200" b="1" spc="200" kern="0" dirty="0">
                <a:solidFill>
                  <a:schemeClr val="accent2"/>
                </a:solidFill>
              </a:rPr>
              <a:t>NEW ADDITION</a:t>
            </a:r>
            <a:endParaRPr lang="en-US" sz="1200" dirty="0"/>
          </a:p>
        </p:txBody>
      </p:sp>
      <p:sp>
        <p:nvSpPr>
          <p:cNvPr id="13" name="New Card Title"/>
          <p:cNvSpPr txBox="1"/>
          <p:nvPr/>
        </p:nvSpPr>
        <p:spPr>
          <a:xfrm>
            <a:off x="7909560" y="4526280"/>
            <a:ext cx="34290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Burn-after-read links</a:t>
            </a:r>
            <a:endParaRPr lang="en-US" sz="2000" dirty="0"/>
          </a:p>
        </p:txBody>
      </p:sp>
      <p:sp>
        <p:nvSpPr>
          <p:cNvPr id="14" name="New Card Body"/>
          <p:cNvSpPr txBox="1"/>
          <p:nvPr/>
        </p:nvSpPr>
        <p:spPr>
          <a:xfrm>
            <a:off x="7909560" y="4937760"/>
            <a:ext cx="3429000" cy="548640"/>
          </a:xfrm>
          <a:prstGeom prst="rect">
            <a:avLst/>
          </a:prstGeom>
          <a:noFill/>
          <a:ln/>
        </p:spPr>
        <p:txBody>
          <a:bodyPr wrap="square" lIns="0" tIns="0" rIns="0" bIns="0" rtlCol="0" anchor="t"/>
          <a:lstStyle/>
          <a:p>
            <a:pPr indent="0" marL="0">
              <a:buNone/>
            </a:pPr>
            <a:r>
              <a:rPr lang="en-US" sz="1400" dirty="0">
                <a:solidFill>
                  <a:schemeClr val="tx2"/>
                </a:solidFill>
              </a:rPr>
              <a:t>E2E share links that self-destruct after N views.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Whiteboards still demand accounts and trust</a:t>
            </a:r>
            <a:endParaRPr lang="en-US" sz="3600" dirty="0"/>
          </a:p>
        </p:txBody>
      </p:sp>
      <p:sp>
        <p:nvSpPr>
          <p:cNvPr id="3" name="Problem Card"/>
          <p:cNvSpPr/>
          <p:nvPr/>
        </p:nvSpPr>
        <p:spPr>
          <a:xfrm>
            <a:off x="548640" y="1417320"/>
            <a:ext cx="6949440" cy="2377440"/>
          </a:xfrm>
          <a:prstGeom prst="roundRect">
            <a:avLst>
              <a:gd name="adj" fmla="val 3077"/>
            </a:avLst>
          </a:prstGeom>
          <a:solidFill>
            <a:schemeClr val="bg2"/>
          </a:solidFill>
          <a:ln w="25400">
            <a:solidFill>
              <a:schemeClr val="tx1"/>
            </a:solidFill>
            <a:prstDash val="solid"/>
          </a:ln>
          <a:effectLst>
            <a:outerShdw sx="100000" sy="100000" kx="0" ky="0" algn="bl" rotWithShape="0" blurRad="101600" dist="63500" dir="2700000">
              <a:srgbClr val="6965DB">
                <a:alpha val="100000"/>
              </a:srgbClr>
            </a:outerShdw>
          </a:effectLst>
        </p:spPr>
      </p:sp>
      <p:sp>
        <p:nvSpPr>
          <p:cNvPr id="4" name="Problem Label"/>
          <p:cNvSpPr txBox="1"/>
          <p:nvPr/>
        </p:nvSpPr>
        <p:spPr>
          <a:xfrm>
            <a:off x="868680" y="1645920"/>
            <a:ext cx="45720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PROBLEM STATEMENT</a:t>
            </a:r>
            <a:endParaRPr lang="en-US" sz="1200" dirty="0"/>
          </a:p>
        </p:txBody>
      </p:sp>
      <p:sp>
        <p:nvSpPr>
          <p:cNvPr id="5" name="Problem Statement"/>
          <p:cNvSpPr txBox="1"/>
          <p:nvPr/>
        </p:nvSpPr>
        <p:spPr>
          <a:xfrm>
            <a:off x="868680" y="1965960"/>
            <a:ext cx="6309360" cy="1325880"/>
          </a:xfrm>
          <a:prstGeom prst="rect">
            <a:avLst/>
          </a:prstGeom>
          <a:noFill/>
          <a:ln/>
        </p:spPr>
        <p:txBody>
          <a:bodyPr wrap="square" lIns="0" tIns="0" rIns="0" bIns="0" rtlCol="0" anchor="t"/>
          <a:lstStyle/>
          <a:p>
            <a:pPr indent="0" marL="0">
              <a:buNone/>
            </a:pPr>
            <a:r>
              <a:rPr lang="en-US" sz="1600" i="1" dirty="0">
                <a:solidFill>
                  <a:schemeClr val="tx1"/>
                </a:solidFill>
              </a:rPr>
              <a:t>For developers and creators stuck with heavyweight diagramming tools that demand logins and slow setups, we deliver instant, zero-account, end-to-end encrypted real-time sketching with local-first persistence, unlike cloud whiteboards that lock drawings behind accounts and server-side tracking.</a:t>
            </a:r>
            <a:endParaRPr lang="en-US" sz="1600" dirty="0"/>
          </a:p>
        </p:txBody>
      </p:sp>
      <p:sp>
        <p:nvSpPr>
          <p:cNvPr id="6" name="Users"/>
          <p:cNvSpPr txBox="1"/>
          <p:nvPr/>
        </p:nvSpPr>
        <p:spPr>
          <a:xfrm>
            <a:off x="868680" y="3337560"/>
            <a:ext cx="6309360" cy="274320"/>
          </a:xfrm>
          <a:prstGeom prst="rect">
            <a:avLst/>
          </a:prstGeom>
          <a:noFill/>
          <a:ln/>
        </p:spPr>
        <p:txBody>
          <a:bodyPr wrap="square" lIns="0" tIns="0" rIns="0" bIns="0" rtlCol="0" anchor="ctr"/>
          <a:lstStyle/>
          <a:p>
            <a:pPr indent="0" marL="0">
              <a:buNone/>
            </a:pPr>
            <a:r>
              <a:rPr lang="en-US" sz="1200" dirty="0">
                <a:solidFill>
                  <a:schemeClr val="accent6"/>
                </a:solidFill>
              </a:rPr>
              <a:t>Who: engineers &amp; architects  ·  designers &amp; PMs  ·  devs embedding a canvas</a:t>
            </a:r>
            <a:endParaRPr lang="en-US" sz="1200" dirty="0"/>
          </a:p>
        </p:txBody>
      </p:sp>
      <p:sp>
        <p:nvSpPr>
          <p:cNvPr id="7" name="Stat 1 Value"/>
          <p:cNvSpPr txBox="1"/>
          <p:nvPr/>
        </p:nvSpPr>
        <p:spPr>
          <a:xfrm>
            <a:off x="8001000" y="1417320"/>
            <a:ext cx="178308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8" name="Stat 1 Label"/>
          <p:cNvSpPr txBox="1"/>
          <p:nvPr/>
        </p:nvSpPr>
        <p:spPr>
          <a:xfrm>
            <a:off x="9829800" y="1417320"/>
            <a:ext cx="1810512" cy="685800"/>
          </a:xfrm>
          <a:prstGeom prst="rect">
            <a:avLst/>
          </a:prstGeom>
          <a:noFill/>
          <a:ln/>
        </p:spPr>
        <p:txBody>
          <a:bodyPr wrap="square" lIns="0" tIns="0" rIns="0" bIns="0" rtlCol="0" anchor="ctr"/>
          <a:lstStyle/>
          <a:p>
            <a:pPr indent="0" marL="0">
              <a:buNone/>
            </a:pPr>
            <a:r>
              <a:rPr lang="en-US" sz="1400" dirty="0">
                <a:solidFill>
                  <a:schemeClr val="tx2"/>
                </a:solidFill>
              </a:rPr>
              <a:t>accounts needed to start drawing</a:t>
            </a:r>
            <a:endParaRPr lang="en-US" sz="1400" dirty="0"/>
          </a:p>
        </p:txBody>
      </p:sp>
      <p:sp>
        <p:nvSpPr>
          <p:cNvPr id="9" name="Stat 2 Value"/>
          <p:cNvSpPr txBox="1"/>
          <p:nvPr/>
        </p:nvSpPr>
        <p:spPr>
          <a:xfrm>
            <a:off x="8001000" y="2240280"/>
            <a:ext cx="178308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128-bit</a:t>
            </a:r>
            <a:endParaRPr lang="en-US" sz="3000" dirty="0"/>
          </a:p>
        </p:txBody>
      </p:sp>
      <p:sp>
        <p:nvSpPr>
          <p:cNvPr id="10" name="Stat 2 Label"/>
          <p:cNvSpPr txBox="1"/>
          <p:nvPr/>
        </p:nvSpPr>
        <p:spPr>
          <a:xfrm>
            <a:off x="9829800" y="2240280"/>
            <a:ext cx="1810512" cy="685800"/>
          </a:xfrm>
          <a:prstGeom prst="rect">
            <a:avLst/>
          </a:prstGeom>
          <a:noFill/>
          <a:ln/>
        </p:spPr>
        <p:txBody>
          <a:bodyPr wrap="square" lIns="0" tIns="0" rIns="0" bIns="0" rtlCol="0" anchor="ctr"/>
          <a:lstStyle/>
          <a:p>
            <a:pPr indent="0" marL="0">
              <a:buNone/>
            </a:pPr>
            <a:r>
              <a:rPr lang="en-US" sz="1400" dirty="0">
                <a:solidFill>
                  <a:schemeClr val="tx2"/>
                </a:solidFill>
              </a:rPr>
              <a:t>AES key, kept only in the URL #hash</a:t>
            </a:r>
            <a:endParaRPr lang="en-US" sz="1400" dirty="0"/>
          </a:p>
        </p:txBody>
      </p:sp>
      <p:sp>
        <p:nvSpPr>
          <p:cNvPr id="11" name="Stat 3 Value"/>
          <p:cNvSpPr txBox="1"/>
          <p:nvPr/>
        </p:nvSpPr>
        <p:spPr>
          <a:xfrm>
            <a:off x="8001000" y="3063240"/>
            <a:ext cx="178308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&lt;100 ms</a:t>
            </a:r>
            <a:endParaRPr lang="en-US" sz="3000" dirty="0"/>
          </a:p>
        </p:txBody>
      </p:sp>
      <p:sp>
        <p:nvSpPr>
          <p:cNvPr id="12" name="Stat 3 Label"/>
          <p:cNvSpPr txBox="1"/>
          <p:nvPr/>
        </p:nvSpPr>
        <p:spPr>
          <a:xfrm>
            <a:off x="9829800" y="3063240"/>
            <a:ext cx="1810512" cy="685800"/>
          </a:xfrm>
          <a:prstGeom prst="rect">
            <a:avLst/>
          </a:prstGeom>
          <a:noFill/>
          <a:ln/>
        </p:spPr>
        <p:txBody>
          <a:bodyPr wrap="square" lIns="0" tIns="0" rIns="0" bIns="0" rtlCol="0" anchor="ctr"/>
          <a:lstStyle/>
          <a:p>
            <a:pPr indent="0" marL="0">
              <a:buNone/>
            </a:pPr>
            <a:r>
              <a:rPr lang="en-US" sz="1400" dirty="0">
                <a:solidFill>
                  <a:schemeClr val="tx2"/>
                </a:solidFill>
              </a:rPr>
              <a:t>target sync between live peers</a:t>
            </a:r>
            <a:endParaRPr lang="en-US" sz="1400" dirty="0"/>
          </a:p>
        </p:txBody>
      </p:sp>
      <p:sp>
        <p:nvSpPr>
          <p:cNvPr id="13" name="Flow Label"/>
          <p:cNvSpPr txBox="1"/>
          <p:nvPr/>
        </p:nvSpPr>
        <p:spPr>
          <a:xfrm>
            <a:off x="548640" y="41605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CORE FLOW: NO LOGIN AT ANY STEP</a:t>
            </a:r>
            <a:endParaRPr lang="en-US" sz="1200" dirty="0"/>
          </a:p>
        </p:txBody>
      </p:sp>
      <p:sp>
        <p:nvSpPr>
          <p:cNvPr id="14" name="Step 1"/>
          <p:cNvSpPr/>
          <p:nvPr/>
        </p:nvSpPr>
        <p:spPr>
          <a:xfrm>
            <a:off x="548640" y="4526280"/>
            <a:ext cx="1620012" cy="1645920"/>
          </a:xfrm>
          <a:prstGeom prst="roundRect">
            <a:avLst>
              <a:gd name="adj" fmla="val 4516"/>
            </a:avLst>
          </a:prstGeom>
          <a:solidFill>
            <a:schemeClr val="bg1"/>
          </a:solidFill>
          <a:ln w="19050">
            <a:solidFill>
              <a:schemeClr val="tx1"/>
            </a:solidFill>
            <a:prstDash val="solid"/>
          </a:ln>
        </p:spPr>
      </p:sp>
      <p:sp>
        <p:nvSpPr>
          <p:cNvPr id="15" name="Step 1 Num"/>
          <p:cNvSpPr txBox="1"/>
          <p:nvPr/>
        </p:nvSpPr>
        <p:spPr>
          <a:xfrm>
            <a:off x="713232"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01</a:t>
            </a:r>
            <a:endParaRPr lang="en-US" sz="1400" dirty="0"/>
          </a:p>
        </p:txBody>
      </p:sp>
      <p:pic>
        <p:nvPicPr>
          <p:cNvPr id="16" name="Step 1 Icon" descr="Open icon">    </p:cNvPr>
          <p:cNvPicPr>
            <a:picLocks noChangeAspect="1"/>
          </p:cNvPicPr>
          <p:nvPr/>
        </p:nvPicPr>
        <p:blipFill>
          <a:blip r:embed="rId1"/>
          <a:stretch>
            <a:fillRect/>
          </a:stretch>
        </p:blipFill>
        <p:spPr>
          <a:xfrm>
            <a:off x="1684020" y="4663440"/>
            <a:ext cx="320040" cy="320040"/>
          </a:xfrm>
          <a:prstGeom prst="rect">
            <a:avLst/>
          </a:prstGeom>
        </p:spPr>
      </p:pic>
      <p:sp>
        <p:nvSpPr>
          <p:cNvPr id="17" name="Step 1 Title"/>
          <p:cNvSpPr txBox="1"/>
          <p:nvPr/>
        </p:nvSpPr>
        <p:spPr>
          <a:xfrm>
            <a:off x="713232"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Open</a:t>
            </a:r>
            <a:endParaRPr lang="en-US" sz="1600" dirty="0"/>
          </a:p>
        </p:txBody>
      </p:sp>
      <p:sp>
        <p:nvSpPr>
          <p:cNvPr id="18" name="Step 1 Body"/>
          <p:cNvSpPr txBox="1"/>
          <p:nvPr/>
        </p:nvSpPr>
        <p:spPr>
          <a:xfrm>
            <a:off x="713232"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Canvas ready at / with no sign-up</a:t>
            </a:r>
            <a:endParaRPr lang="en-US" sz="1200" dirty="0"/>
          </a:p>
        </p:txBody>
      </p:sp>
      <p:sp>
        <p:nvSpPr>
          <p:cNvPr id="19" name="Step 2"/>
          <p:cNvSpPr/>
          <p:nvPr/>
        </p:nvSpPr>
        <p:spPr>
          <a:xfrm>
            <a:off x="2442972" y="4526280"/>
            <a:ext cx="1620012" cy="1645920"/>
          </a:xfrm>
          <a:prstGeom prst="roundRect">
            <a:avLst>
              <a:gd name="adj" fmla="val 4516"/>
            </a:avLst>
          </a:prstGeom>
          <a:solidFill>
            <a:schemeClr val="bg1"/>
          </a:solidFill>
          <a:ln w="19050">
            <a:solidFill>
              <a:schemeClr val="tx1"/>
            </a:solidFill>
            <a:prstDash val="solid"/>
          </a:ln>
        </p:spPr>
      </p:sp>
      <p:sp>
        <p:nvSpPr>
          <p:cNvPr id="20" name="Step 2 Num"/>
          <p:cNvSpPr txBox="1"/>
          <p:nvPr/>
        </p:nvSpPr>
        <p:spPr>
          <a:xfrm>
            <a:off x="2607564"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02</a:t>
            </a:r>
            <a:endParaRPr lang="en-US" sz="1400" dirty="0"/>
          </a:p>
        </p:txBody>
      </p:sp>
      <p:pic>
        <p:nvPicPr>
          <p:cNvPr id="21" name="Step 2 Icon" descr="Draw icon">    </p:cNvPr>
          <p:cNvPicPr>
            <a:picLocks noChangeAspect="1"/>
          </p:cNvPicPr>
          <p:nvPr/>
        </p:nvPicPr>
        <p:blipFill>
          <a:blip r:embed="rId2"/>
          <a:stretch>
            <a:fillRect/>
          </a:stretch>
        </p:blipFill>
        <p:spPr>
          <a:xfrm>
            <a:off x="3578352" y="4663440"/>
            <a:ext cx="320040" cy="320040"/>
          </a:xfrm>
          <a:prstGeom prst="rect">
            <a:avLst/>
          </a:prstGeom>
        </p:spPr>
      </p:pic>
      <p:sp>
        <p:nvSpPr>
          <p:cNvPr id="22" name="Step 2 Title"/>
          <p:cNvSpPr txBox="1"/>
          <p:nvPr/>
        </p:nvSpPr>
        <p:spPr>
          <a:xfrm>
            <a:off x="2607564"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Draw</a:t>
            </a:r>
            <a:endParaRPr lang="en-US" sz="1600" dirty="0"/>
          </a:p>
        </p:txBody>
      </p:sp>
      <p:sp>
        <p:nvSpPr>
          <p:cNvPr id="23" name="Step 2 Body"/>
          <p:cNvSpPr txBox="1"/>
          <p:nvPr/>
        </p:nvSpPr>
        <p:spPr>
          <a:xfrm>
            <a:off x="2607564"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Shapes, arrows, text, free-draw</a:t>
            </a:r>
            <a:endParaRPr lang="en-US" sz="1200" dirty="0"/>
          </a:p>
        </p:txBody>
      </p:sp>
      <p:sp>
        <p:nvSpPr>
          <p:cNvPr id="24" name="Step 3"/>
          <p:cNvSpPr/>
          <p:nvPr/>
        </p:nvSpPr>
        <p:spPr>
          <a:xfrm>
            <a:off x="4337304" y="4526280"/>
            <a:ext cx="1620012" cy="1645920"/>
          </a:xfrm>
          <a:prstGeom prst="roundRect">
            <a:avLst>
              <a:gd name="adj" fmla="val 4516"/>
            </a:avLst>
          </a:prstGeom>
          <a:solidFill>
            <a:schemeClr val="bg1"/>
          </a:solidFill>
          <a:ln w="19050">
            <a:solidFill>
              <a:schemeClr val="tx1"/>
            </a:solidFill>
            <a:prstDash val="solid"/>
          </a:ln>
        </p:spPr>
      </p:sp>
      <p:sp>
        <p:nvSpPr>
          <p:cNvPr id="25" name="Step 3 Num"/>
          <p:cNvSpPr txBox="1"/>
          <p:nvPr/>
        </p:nvSpPr>
        <p:spPr>
          <a:xfrm>
            <a:off x="4501896"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03</a:t>
            </a:r>
            <a:endParaRPr lang="en-US" sz="1400" dirty="0"/>
          </a:p>
        </p:txBody>
      </p:sp>
      <p:pic>
        <p:nvPicPr>
          <p:cNvPr id="26" name="Step 3 Icon" descr="Auto-save icon">    </p:cNvPr>
          <p:cNvPicPr>
            <a:picLocks noChangeAspect="1"/>
          </p:cNvPicPr>
          <p:nvPr/>
        </p:nvPicPr>
        <p:blipFill>
          <a:blip r:embed="rId3"/>
          <a:stretch>
            <a:fillRect/>
          </a:stretch>
        </p:blipFill>
        <p:spPr>
          <a:xfrm>
            <a:off x="5472684" y="4663440"/>
            <a:ext cx="320040" cy="320040"/>
          </a:xfrm>
          <a:prstGeom prst="rect">
            <a:avLst/>
          </a:prstGeom>
        </p:spPr>
      </p:pic>
      <p:sp>
        <p:nvSpPr>
          <p:cNvPr id="27" name="Step 3 Title"/>
          <p:cNvSpPr txBox="1"/>
          <p:nvPr/>
        </p:nvSpPr>
        <p:spPr>
          <a:xfrm>
            <a:off x="4501896"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Auto-save</a:t>
            </a:r>
            <a:endParaRPr lang="en-US" sz="1600" dirty="0"/>
          </a:p>
        </p:txBody>
      </p:sp>
      <p:sp>
        <p:nvSpPr>
          <p:cNvPr id="28" name="Step 3 Body"/>
          <p:cNvSpPr txBox="1"/>
          <p:nvPr/>
        </p:nvSpPr>
        <p:spPr>
          <a:xfrm>
            <a:off x="4501896"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IndexedDB after every stroke</a:t>
            </a:r>
            <a:endParaRPr lang="en-US" sz="1200" dirty="0"/>
          </a:p>
        </p:txBody>
      </p:sp>
      <p:sp>
        <p:nvSpPr>
          <p:cNvPr id="29" name="Step 4"/>
          <p:cNvSpPr/>
          <p:nvPr/>
        </p:nvSpPr>
        <p:spPr>
          <a:xfrm>
            <a:off x="6231636" y="4526280"/>
            <a:ext cx="1620012" cy="1645920"/>
          </a:xfrm>
          <a:prstGeom prst="roundRect">
            <a:avLst>
              <a:gd name="adj" fmla="val 4516"/>
            </a:avLst>
          </a:prstGeom>
          <a:solidFill>
            <a:schemeClr val="bg1"/>
          </a:solidFill>
          <a:ln w="19050">
            <a:solidFill>
              <a:schemeClr val="tx1"/>
            </a:solidFill>
            <a:prstDash val="solid"/>
          </a:ln>
        </p:spPr>
      </p:sp>
      <p:sp>
        <p:nvSpPr>
          <p:cNvPr id="30" name="Step 4 Num"/>
          <p:cNvSpPr txBox="1"/>
          <p:nvPr/>
        </p:nvSpPr>
        <p:spPr>
          <a:xfrm>
            <a:off x="6396228"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04</a:t>
            </a:r>
            <a:endParaRPr lang="en-US" sz="1400" dirty="0"/>
          </a:p>
        </p:txBody>
      </p:sp>
      <p:pic>
        <p:nvPicPr>
          <p:cNvPr id="31" name="Step 4 Icon" descr="Go live icon">    </p:cNvPr>
          <p:cNvPicPr>
            <a:picLocks noChangeAspect="1"/>
          </p:cNvPicPr>
          <p:nvPr/>
        </p:nvPicPr>
        <p:blipFill>
          <a:blip r:embed="rId4"/>
          <a:stretch>
            <a:fillRect/>
          </a:stretch>
        </p:blipFill>
        <p:spPr>
          <a:xfrm>
            <a:off x="7367016" y="4663440"/>
            <a:ext cx="320040" cy="320040"/>
          </a:xfrm>
          <a:prstGeom prst="rect">
            <a:avLst/>
          </a:prstGeom>
        </p:spPr>
      </p:pic>
      <p:sp>
        <p:nvSpPr>
          <p:cNvPr id="32" name="Step 4 Title"/>
          <p:cNvSpPr txBox="1"/>
          <p:nvPr/>
        </p:nvSpPr>
        <p:spPr>
          <a:xfrm>
            <a:off x="6396228"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Go live</a:t>
            </a:r>
            <a:endParaRPr lang="en-US" sz="1600" dirty="0"/>
          </a:p>
        </p:txBody>
      </p:sp>
      <p:sp>
        <p:nvSpPr>
          <p:cNvPr id="33" name="Step 4 Body"/>
          <p:cNvSpPr txBox="1"/>
          <p:nvPr/>
        </p:nvSpPr>
        <p:spPr>
          <a:xfrm>
            <a:off x="6396228"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#room=id,key with live cursors</a:t>
            </a:r>
            <a:endParaRPr lang="en-US" sz="1200" dirty="0"/>
          </a:p>
        </p:txBody>
      </p:sp>
      <p:sp>
        <p:nvSpPr>
          <p:cNvPr id="34" name="Step 5"/>
          <p:cNvSpPr/>
          <p:nvPr/>
        </p:nvSpPr>
        <p:spPr>
          <a:xfrm>
            <a:off x="8125968" y="4526280"/>
            <a:ext cx="1620012" cy="1645920"/>
          </a:xfrm>
          <a:prstGeom prst="roundRect">
            <a:avLst>
              <a:gd name="adj" fmla="val 4516"/>
            </a:avLst>
          </a:prstGeom>
          <a:solidFill>
            <a:schemeClr val="bg1"/>
          </a:solidFill>
          <a:ln w="19050">
            <a:solidFill>
              <a:schemeClr val="tx1"/>
            </a:solidFill>
            <a:prstDash val="solid"/>
          </a:ln>
        </p:spPr>
      </p:sp>
      <p:sp>
        <p:nvSpPr>
          <p:cNvPr id="35" name="Step 5 Num"/>
          <p:cNvSpPr txBox="1"/>
          <p:nvPr/>
        </p:nvSpPr>
        <p:spPr>
          <a:xfrm>
            <a:off x="8290560"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05</a:t>
            </a:r>
            <a:endParaRPr lang="en-US" sz="1400" dirty="0"/>
          </a:p>
        </p:txBody>
      </p:sp>
      <p:pic>
        <p:nvPicPr>
          <p:cNvPr id="36" name="Step 5 Icon" descr="Share icon">    </p:cNvPr>
          <p:cNvPicPr>
            <a:picLocks noChangeAspect="1"/>
          </p:cNvPicPr>
          <p:nvPr/>
        </p:nvPicPr>
        <p:blipFill>
          <a:blip r:embed="rId5"/>
          <a:stretch>
            <a:fillRect/>
          </a:stretch>
        </p:blipFill>
        <p:spPr>
          <a:xfrm>
            <a:off x="9261348" y="4663440"/>
            <a:ext cx="320040" cy="320040"/>
          </a:xfrm>
          <a:prstGeom prst="rect">
            <a:avLst/>
          </a:prstGeom>
        </p:spPr>
      </p:pic>
      <p:sp>
        <p:nvSpPr>
          <p:cNvPr id="37" name="Step 5 Title"/>
          <p:cNvSpPr txBox="1"/>
          <p:nvPr/>
        </p:nvSpPr>
        <p:spPr>
          <a:xfrm>
            <a:off x="8290560"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Share</a:t>
            </a:r>
            <a:endParaRPr lang="en-US" sz="1600" dirty="0"/>
          </a:p>
        </p:txBody>
      </p:sp>
      <p:sp>
        <p:nvSpPr>
          <p:cNvPr id="38" name="Step 5 Body"/>
          <p:cNvSpPr txBox="1"/>
          <p:nvPr/>
        </p:nvSpPr>
        <p:spPr>
          <a:xfrm>
            <a:off x="8290560"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Encrypted #json= snapshot link</a:t>
            </a:r>
            <a:endParaRPr lang="en-US" sz="1200" dirty="0"/>
          </a:p>
        </p:txBody>
      </p:sp>
      <p:sp>
        <p:nvSpPr>
          <p:cNvPr id="39" name="Step 6"/>
          <p:cNvSpPr/>
          <p:nvPr/>
        </p:nvSpPr>
        <p:spPr>
          <a:xfrm>
            <a:off x="10020300" y="4526280"/>
            <a:ext cx="1620012" cy="1645920"/>
          </a:xfrm>
          <a:prstGeom prst="roundRect">
            <a:avLst>
              <a:gd name="adj" fmla="val 4516"/>
            </a:avLst>
          </a:prstGeom>
          <a:solidFill>
            <a:schemeClr val="bg1"/>
          </a:solidFill>
          <a:ln w="19050">
            <a:solidFill>
              <a:schemeClr val="tx1"/>
            </a:solidFill>
            <a:prstDash val="solid"/>
          </a:ln>
        </p:spPr>
      </p:sp>
      <p:sp>
        <p:nvSpPr>
          <p:cNvPr id="40" name="Step 6 Num"/>
          <p:cNvSpPr txBox="1"/>
          <p:nvPr/>
        </p:nvSpPr>
        <p:spPr>
          <a:xfrm>
            <a:off x="10184892" y="4663440"/>
            <a:ext cx="548640" cy="320040"/>
          </a:xfrm>
          <a:prstGeom prst="rect">
            <a:avLst/>
          </a:prstGeom>
          <a:noFill/>
          <a:ln/>
        </p:spPr>
        <p:txBody>
          <a:bodyPr wrap="square" lIns="0" tIns="0" rIns="0" bIns="0" rtlCol="0" anchor="ctr"/>
          <a:lstStyle/>
          <a:p>
            <a:pPr indent="0" marL="0">
              <a:buNone/>
            </a:pPr>
            <a:r>
              <a:rPr lang="en-US" sz="1400" b="1" dirty="0">
                <a:solidFill>
                  <a:schemeClr val="accent6"/>
                </a:solidFill>
              </a:rPr>
              <a:t>06</a:t>
            </a:r>
            <a:endParaRPr lang="en-US" sz="1400" dirty="0"/>
          </a:p>
        </p:txBody>
      </p:sp>
      <p:pic>
        <p:nvPicPr>
          <p:cNvPr id="41" name="Step 6 Icon" descr="Export icon">    </p:cNvPr>
          <p:cNvPicPr>
            <a:picLocks noChangeAspect="1"/>
          </p:cNvPicPr>
          <p:nvPr/>
        </p:nvPicPr>
        <p:blipFill>
          <a:blip r:embed="rId6"/>
          <a:stretch>
            <a:fillRect/>
          </a:stretch>
        </p:blipFill>
        <p:spPr>
          <a:xfrm>
            <a:off x="11155680" y="4663440"/>
            <a:ext cx="320040" cy="320040"/>
          </a:xfrm>
          <a:prstGeom prst="rect">
            <a:avLst/>
          </a:prstGeom>
        </p:spPr>
      </p:pic>
      <p:sp>
        <p:nvSpPr>
          <p:cNvPr id="42" name="Step 6 Title"/>
          <p:cNvSpPr txBox="1"/>
          <p:nvPr/>
        </p:nvSpPr>
        <p:spPr>
          <a:xfrm>
            <a:off x="10184892" y="5074920"/>
            <a:ext cx="1290828" cy="320040"/>
          </a:xfrm>
          <a:prstGeom prst="rect">
            <a:avLst/>
          </a:prstGeom>
          <a:noFill/>
          <a:ln/>
        </p:spPr>
        <p:txBody>
          <a:bodyPr wrap="square" lIns="0" tIns="0" rIns="0" bIns="0" rtlCol="0" anchor="ctr"/>
          <a:lstStyle/>
          <a:p>
            <a:pPr indent="0" marL="0">
              <a:buNone/>
            </a:pPr>
            <a:r>
              <a:rPr lang="en-US" sz="1600" b="1" dirty="0">
                <a:solidFill>
                  <a:schemeClr val="tx1"/>
                </a:solidFill>
              </a:rPr>
              <a:t>Export</a:t>
            </a:r>
            <a:endParaRPr lang="en-US" sz="1600" dirty="0"/>
          </a:p>
        </p:txBody>
      </p:sp>
      <p:sp>
        <p:nvSpPr>
          <p:cNvPr id="43" name="Step 6 Body"/>
          <p:cNvSpPr txBox="1"/>
          <p:nvPr/>
        </p:nvSpPr>
        <p:spPr>
          <a:xfrm>
            <a:off x="10184892" y="5413248"/>
            <a:ext cx="1290828" cy="640080"/>
          </a:xfrm>
          <a:prstGeom prst="rect">
            <a:avLst/>
          </a:prstGeom>
          <a:noFill/>
          <a:ln/>
        </p:spPr>
        <p:txBody>
          <a:bodyPr wrap="square" lIns="0" tIns="0" rIns="0" bIns="0" rtlCol="0" anchor="t"/>
          <a:lstStyle/>
          <a:p>
            <a:pPr indent="0" marL="0">
              <a:buNone/>
            </a:pPr>
            <a:r>
              <a:rPr lang="en-US" sz="1200" dirty="0">
                <a:solidFill>
                  <a:schemeClr val="tx2"/>
                </a:solidFill>
              </a:rPr>
              <a:t>PNG, SVG or .excalidraw JSON</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5 verified gaps in the original</a:t>
            </a:r>
            <a:endParaRPr lang="en-US" sz="3600" dirty="0"/>
          </a:p>
        </p:txBody>
      </p:sp>
      <p:sp>
        <p:nvSpPr>
          <p:cNvPr id="3" name="Gap 1 Row"/>
          <p:cNvSpPr/>
          <p:nvPr/>
        </p:nvSpPr>
        <p:spPr>
          <a:xfrm>
            <a:off x="548640" y="1371600"/>
            <a:ext cx="11091672" cy="749808"/>
          </a:xfrm>
          <a:prstGeom prst="roundRect">
            <a:avLst>
              <a:gd name="adj" fmla="val 9756"/>
            </a:avLst>
          </a:prstGeom>
          <a:solidFill>
            <a:schemeClr val="bg2"/>
          </a:solidFill>
          <a:ln w="25400">
            <a:solidFill>
              <a:schemeClr val="tx1"/>
            </a:solidFill>
            <a:prstDash val="solid"/>
          </a:ln>
          <a:effectLst>
            <a:outerShdw sx="100000" sy="100000" kx="0" ky="0" algn="bl" rotWithShape="0" blurRad="101600" dist="63500" dir="2700000">
              <a:srgbClr val="6965DB">
                <a:alpha val="100000"/>
              </a:srgbClr>
            </a:outerShdw>
          </a:effectLst>
        </p:spPr>
      </p:sp>
      <p:sp>
        <p:nvSpPr>
          <p:cNvPr id="4" name="Gap 1 Badge"/>
          <p:cNvSpPr/>
          <p:nvPr/>
        </p:nvSpPr>
        <p:spPr>
          <a:xfrm>
            <a:off x="731520" y="1545336"/>
            <a:ext cx="402336" cy="402336"/>
          </a:xfrm>
          <a:prstGeom prst="ellipse">
            <a:avLst/>
          </a:prstGeom>
          <a:solidFill>
            <a:schemeClr val="accent1"/>
          </a:solidFill>
          <a:ln w="12700">
            <a:solidFill>
              <a:schemeClr val="accent1"/>
            </a:solidFill>
            <a:prstDash val="solid"/>
          </a:ln>
        </p:spPr>
      </p:sp>
      <p:sp>
        <p:nvSpPr>
          <p:cNvPr id="5" name="Gap 1 Num"/>
          <p:cNvSpPr txBox="1"/>
          <p:nvPr/>
        </p:nvSpPr>
        <p:spPr>
          <a:xfrm>
            <a:off x="731520" y="154533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Gap 1 Type"/>
          <p:cNvSpPr txBox="1"/>
          <p:nvPr/>
        </p:nvSpPr>
        <p:spPr>
          <a:xfrm>
            <a:off x="1325880" y="1499616"/>
            <a:ext cx="15087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SECURITY</a:t>
            </a:r>
            <a:endParaRPr lang="en-US" sz="1200" dirty="0"/>
          </a:p>
        </p:txBody>
      </p:sp>
      <p:sp>
        <p:nvSpPr>
          <p:cNvPr id="7" name="Gap 1 Fix Tag"/>
          <p:cNvSpPr txBox="1"/>
          <p:nvPr/>
        </p:nvSpPr>
        <p:spPr>
          <a:xfrm>
            <a:off x="1325880" y="1773936"/>
            <a:ext cx="1508760" cy="237744"/>
          </a:xfrm>
          <a:prstGeom prst="rect">
            <a:avLst/>
          </a:prstGeom>
          <a:noFill/>
          <a:ln/>
        </p:spPr>
        <p:txBody>
          <a:bodyPr wrap="square" lIns="0" tIns="0" rIns="0" bIns="0" rtlCol="0" anchor="ctr"/>
          <a:lstStyle/>
          <a:p>
            <a:pPr indent="0" marL="0">
              <a:buNone/>
            </a:pPr>
            <a:r>
              <a:rPr lang="en-US" sz="1100" b="1" spc="100" kern="0" dirty="0">
                <a:solidFill>
                  <a:schemeClr val="accent2"/>
                </a:solidFill>
              </a:rPr>
              <a:t>WE FIX THIS</a:t>
            </a:r>
            <a:endParaRPr lang="en-US" sz="1100" dirty="0"/>
          </a:p>
        </p:txBody>
      </p:sp>
      <p:sp>
        <p:nvSpPr>
          <p:cNvPr id="8" name="Gap 1 Text"/>
          <p:cNvSpPr txBox="1"/>
          <p:nvPr/>
        </p:nvSpPr>
        <p:spPr>
          <a:xfrm>
            <a:off x="2926080" y="1371600"/>
            <a:ext cx="4892040" cy="749808"/>
          </a:xfrm>
          <a:prstGeom prst="rect">
            <a:avLst/>
          </a:prstGeom>
          <a:noFill/>
          <a:ln/>
        </p:spPr>
        <p:txBody>
          <a:bodyPr wrap="square" lIns="0" tIns="0" rIns="0" bIns="0" rtlCol="0" anchor="ctr"/>
          <a:lstStyle/>
          <a:p>
            <a:pPr indent="0" marL="0">
              <a:buNone/>
            </a:pPr>
            <a:r>
              <a:rPr lang="en-US" sz="1400" dirty="0">
                <a:solidFill>
                  <a:schemeClr val="tx1"/>
                </a:solidFill>
              </a:rPr>
              <a:t>Firestore rules allow unauthenticated writes to any document, with no payload size check.</a:t>
            </a:r>
            <a:endParaRPr lang="en-US" sz="1400" dirty="0"/>
          </a:p>
        </p:txBody>
      </p:sp>
      <p:sp>
        <p:nvSpPr>
          <p:cNvPr id="9" name="Gap 1 Evidence"/>
          <p:cNvSpPr txBox="1"/>
          <p:nvPr/>
        </p:nvSpPr>
        <p:spPr>
          <a:xfrm>
            <a:off x="8001000" y="1371600"/>
            <a:ext cx="3566160" cy="749808"/>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firebase-project/firestore.rules:5</a:t>
            </a:r>
            <a:endParaRPr lang="en-US" sz="1100" dirty="0"/>
          </a:p>
        </p:txBody>
      </p:sp>
      <p:sp>
        <p:nvSpPr>
          <p:cNvPr id="10" name="Gap 2 Row"/>
          <p:cNvSpPr/>
          <p:nvPr/>
        </p:nvSpPr>
        <p:spPr>
          <a:xfrm>
            <a:off x="548640" y="2249424"/>
            <a:ext cx="11091672" cy="749808"/>
          </a:xfrm>
          <a:prstGeom prst="roundRect">
            <a:avLst>
              <a:gd name="adj" fmla="val 9756"/>
            </a:avLst>
          </a:prstGeom>
          <a:solidFill>
            <a:schemeClr val="bg1"/>
          </a:solidFill>
          <a:ln w="12700">
            <a:solidFill>
              <a:schemeClr val="accent5"/>
            </a:solidFill>
            <a:prstDash val="solid"/>
          </a:ln>
        </p:spPr>
      </p:sp>
      <p:sp>
        <p:nvSpPr>
          <p:cNvPr id="11" name="Gap 2 Badge"/>
          <p:cNvSpPr/>
          <p:nvPr/>
        </p:nvSpPr>
        <p:spPr>
          <a:xfrm>
            <a:off x="731520" y="2423160"/>
            <a:ext cx="402336" cy="402336"/>
          </a:xfrm>
          <a:prstGeom prst="ellipse">
            <a:avLst/>
          </a:prstGeom>
          <a:solidFill>
            <a:schemeClr val="tx1"/>
          </a:solidFill>
          <a:ln w="12700">
            <a:solidFill>
              <a:schemeClr val="tx1"/>
            </a:solidFill>
            <a:prstDash val="solid"/>
          </a:ln>
        </p:spPr>
      </p:sp>
      <p:sp>
        <p:nvSpPr>
          <p:cNvPr id="12" name="Gap 2 Num"/>
          <p:cNvSpPr txBox="1"/>
          <p:nvPr/>
        </p:nvSpPr>
        <p:spPr>
          <a:xfrm>
            <a:off x="731520" y="242316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Gap 2 Type"/>
          <p:cNvSpPr txBox="1"/>
          <p:nvPr/>
        </p:nvSpPr>
        <p:spPr>
          <a:xfrm>
            <a:off x="1325880" y="2249424"/>
            <a:ext cx="1508760" cy="749808"/>
          </a:xfrm>
          <a:prstGeom prst="rect">
            <a:avLst/>
          </a:prstGeom>
          <a:noFill/>
          <a:ln/>
        </p:spPr>
        <p:txBody>
          <a:bodyPr wrap="square" lIns="0" tIns="0" rIns="0" bIns="0" rtlCol="0" anchor="ctr"/>
          <a:lstStyle/>
          <a:p>
            <a:pPr indent="0" marL="0">
              <a:buNone/>
            </a:pPr>
            <a:r>
              <a:rPr lang="en-US" sz="1200" b="1" spc="100" kern="0" dirty="0">
                <a:solidFill>
                  <a:schemeClr val="tx2"/>
                </a:solidFill>
              </a:rPr>
              <a:t>CORRECTNESS</a:t>
            </a:r>
            <a:endParaRPr lang="en-US" sz="1200" dirty="0"/>
          </a:p>
        </p:txBody>
      </p:sp>
      <p:sp>
        <p:nvSpPr>
          <p:cNvPr id="14" name="Gap 2 Text"/>
          <p:cNvSpPr txBox="1"/>
          <p:nvPr/>
        </p:nvSpPr>
        <p:spPr>
          <a:xfrm>
            <a:off x="2926080" y="2249424"/>
            <a:ext cx="4892040" cy="749808"/>
          </a:xfrm>
          <a:prstGeom prst="rect">
            <a:avLst/>
          </a:prstGeom>
          <a:noFill/>
          <a:ln/>
        </p:spPr>
        <p:txBody>
          <a:bodyPr wrap="square" lIns="0" tIns="0" rIns="0" bIns="0" rtlCol="0" anchor="ctr"/>
          <a:lstStyle/>
          <a:p>
            <a:pPr indent="0" marL="0">
              <a:buNone/>
            </a:pPr>
            <a:r>
              <a:rPr lang="en-US" sz="1400" dirty="0">
                <a:solidFill>
                  <a:schemeClr val="tx1"/>
                </a:solidFill>
              </a:rPr>
              <a:t>Simultaneous room joins race on local state with no atomic reconciliation gate.</a:t>
            </a:r>
            <a:endParaRPr lang="en-US" sz="1400" dirty="0"/>
          </a:p>
        </p:txBody>
      </p:sp>
      <p:sp>
        <p:nvSpPr>
          <p:cNvPr id="15" name="Gap 2 Evidence"/>
          <p:cNvSpPr txBox="1"/>
          <p:nvPr/>
        </p:nvSpPr>
        <p:spPr>
          <a:xfrm>
            <a:off x="8001000" y="2249424"/>
            <a:ext cx="3566160" cy="749808"/>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excalidraw-app/App.tsx:332-345</a:t>
            </a:r>
            <a:endParaRPr lang="en-US" sz="1100" dirty="0"/>
          </a:p>
        </p:txBody>
      </p:sp>
      <p:sp>
        <p:nvSpPr>
          <p:cNvPr id="16" name="Gap 3 Row"/>
          <p:cNvSpPr/>
          <p:nvPr/>
        </p:nvSpPr>
        <p:spPr>
          <a:xfrm>
            <a:off x="548640" y="3127248"/>
            <a:ext cx="11091672" cy="749808"/>
          </a:xfrm>
          <a:prstGeom prst="roundRect">
            <a:avLst>
              <a:gd name="adj" fmla="val 9756"/>
            </a:avLst>
          </a:prstGeom>
          <a:solidFill>
            <a:schemeClr val="bg1"/>
          </a:solidFill>
          <a:ln w="12700">
            <a:solidFill>
              <a:schemeClr val="accent5"/>
            </a:solidFill>
            <a:prstDash val="solid"/>
          </a:ln>
        </p:spPr>
      </p:sp>
      <p:sp>
        <p:nvSpPr>
          <p:cNvPr id="17" name="Gap 3 Badge"/>
          <p:cNvSpPr/>
          <p:nvPr/>
        </p:nvSpPr>
        <p:spPr>
          <a:xfrm>
            <a:off x="731520" y="3300984"/>
            <a:ext cx="402336" cy="402336"/>
          </a:xfrm>
          <a:prstGeom prst="ellipse">
            <a:avLst/>
          </a:prstGeom>
          <a:solidFill>
            <a:schemeClr val="tx1"/>
          </a:solidFill>
          <a:ln w="12700">
            <a:solidFill>
              <a:schemeClr val="tx1"/>
            </a:solidFill>
            <a:prstDash val="solid"/>
          </a:ln>
        </p:spPr>
      </p:sp>
      <p:sp>
        <p:nvSpPr>
          <p:cNvPr id="18" name="Gap 3 Num"/>
          <p:cNvSpPr txBox="1"/>
          <p:nvPr/>
        </p:nvSpPr>
        <p:spPr>
          <a:xfrm>
            <a:off x="731520" y="330098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Gap 3 Type"/>
          <p:cNvSpPr txBox="1"/>
          <p:nvPr/>
        </p:nvSpPr>
        <p:spPr>
          <a:xfrm>
            <a:off x="1325880" y="3127248"/>
            <a:ext cx="1508760" cy="749808"/>
          </a:xfrm>
          <a:prstGeom prst="rect">
            <a:avLst/>
          </a:prstGeom>
          <a:noFill/>
          <a:ln/>
        </p:spPr>
        <p:txBody>
          <a:bodyPr wrap="square" lIns="0" tIns="0" rIns="0" bIns="0" rtlCol="0" anchor="ctr"/>
          <a:lstStyle/>
          <a:p>
            <a:pPr indent="0" marL="0">
              <a:buNone/>
            </a:pPr>
            <a:r>
              <a:rPr lang="en-US" sz="1200" b="1" spc="100" kern="0" dirty="0">
                <a:solidFill>
                  <a:schemeClr val="tx2"/>
                </a:solidFill>
              </a:rPr>
              <a:t>VALIDATION</a:t>
            </a:r>
            <a:endParaRPr lang="en-US" sz="1200" dirty="0"/>
          </a:p>
        </p:txBody>
      </p:sp>
      <p:sp>
        <p:nvSpPr>
          <p:cNvPr id="20" name="Gap 3 Text"/>
          <p:cNvSpPr txBox="1"/>
          <p:nvPr/>
        </p:nvSpPr>
        <p:spPr>
          <a:xfrm>
            <a:off x="2926080" y="3127248"/>
            <a:ext cx="4892040" cy="749808"/>
          </a:xfrm>
          <a:prstGeom prst="rect">
            <a:avLst/>
          </a:prstGeom>
          <a:noFill/>
          <a:ln/>
        </p:spPr>
        <p:txBody>
          <a:bodyPr wrap="square" lIns="0" tIns="0" rIns="0" bIns="0" rtlCol="0" anchor="ctr"/>
          <a:lstStyle/>
          <a:p>
            <a:pPr indent="0" marL="0">
              <a:buNone/>
            </a:pPr>
            <a:r>
              <a:rPr lang="en-US" sz="1400" dirty="0">
                <a:solidFill>
                  <a:schemeClr val="tx1"/>
                </a:solidFill>
              </a:rPr>
              <a:t>The #url= loader fetches remote scenes with no HTTPS enforcement or size limit.</a:t>
            </a:r>
            <a:endParaRPr lang="en-US" sz="1400" dirty="0"/>
          </a:p>
        </p:txBody>
      </p:sp>
      <p:sp>
        <p:nvSpPr>
          <p:cNvPr id="21" name="Gap 3 Evidence"/>
          <p:cNvSpPr txBox="1"/>
          <p:nvPr/>
        </p:nvSpPr>
        <p:spPr>
          <a:xfrm>
            <a:off x="8001000" y="3127248"/>
            <a:ext cx="3566160" cy="749808"/>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excalidraw-app/App.tsx:307-310</a:t>
            </a:r>
            <a:endParaRPr lang="en-US" sz="1100" dirty="0"/>
          </a:p>
        </p:txBody>
      </p:sp>
      <p:sp>
        <p:nvSpPr>
          <p:cNvPr id="22" name="Gap 4 Row"/>
          <p:cNvSpPr/>
          <p:nvPr/>
        </p:nvSpPr>
        <p:spPr>
          <a:xfrm>
            <a:off x="548640" y="4005072"/>
            <a:ext cx="11091672" cy="749808"/>
          </a:xfrm>
          <a:prstGeom prst="roundRect">
            <a:avLst>
              <a:gd name="adj" fmla="val 9756"/>
            </a:avLst>
          </a:prstGeom>
          <a:solidFill>
            <a:schemeClr val="bg1"/>
          </a:solidFill>
          <a:ln w="12700">
            <a:solidFill>
              <a:schemeClr val="accent5"/>
            </a:solidFill>
            <a:prstDash val="solid"/>
          </a:ln>
        </p:spPr>
      </p:sp>
      <p:sp>
        <p:nvSpPr>
          <p:cNvPr id="23" name="Gap 4 Badge"/>
          <p:cNvSpPr/>
          <p:nvPr/>
        </p:nvSpPr>
        <p:spPr>
          <a:xfrm>
            <a:off x="731520" y="4178808"/>
            <a:ext cx="402336" cy="402336"/>
          </a:xfrm>
          <a:prstGeom prst="ellipse">
            <a:avLst/>
          </a:prstGeom>
          <a:solidFill>
            <a:schemeClr val="tx1"/>
          </a:solidFill>
          <a:ln w="12700">
            <a:solidFill>
              <a:schemeClr val="tx1"/>
            </a:solidFill>
            <a:prstDash val="solid"/>
          </a:ln>
        </p:spPr>
      </p:sp>
      <p:sp>
        <p:nvSpPr>
          <p:cNvPr id="24" name="Gap 4 Num"/>
          <p:cNvSpPr txBox="1"/>
          <p:nvPr/>
        </p:nvSpPr>
        <p:spPr>
          <a:xfrm>
            <a:off x="731520" y="417880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Gap 4 Type"/>
          <p:cNvSpPr txBox="1"/>
          <p:nvPr/>
        </p:nvSpPr>
        <p:spPr>
          <a:xfrm>
            <a:off x="1325880" y="4005072"/>
            <a:ext cx="1508760" cy="749808"/>
          </a:xfrm>
          <a:prstGeom prst="rect">
            <a:avLst/>
          </a:prstGeom>
          <a:noFill/>
          <a:ln/>
        </p:spPr>
        <p:txBody>
          <a:bodyPr wrap="square" lIns="0" tIns="0" rIns="0" bIns="0" rtlCol="0" anchor="ctr"/>
          <a:lstStyle/>
          <a:p>
            <a:pPr indent="0" marL="0">
              <a:buNone/>
            </a:pPr>
            <a:r>
              <a:rPr lang="en-US" sz="1200" b="1" spc="100" kern="0" dirty="0">
                <a:solidFill>
                  <a:schemeClr val="tx2"/>
                </a:solidFill>
              </a:rPr>
              <a:t>UX / ERRORS</a:t>
            </a:r>
            <a:endParaRPr lang="en-US" sz="1200" dirty="0"/>
          </a:p>
        </p:txBody>
      </p:sp>
      <p:sp>
        <p:nvSpPr>
          <p:cNvPr id="26" name="Gap 4 Text"/>
          <p:cNvSpPr txBox="1"/>
          <p:nvPr/>
        </p:nvSpPr>
        <p:spPr>
          <a:xfrm>
            <a:off x="2926080" y="4005072"/>
            <a:ext cx="4892040" cy="749808"/>
          </a:xfrm>
          <a:prstGeom prst="rect">
            <a:avLst/>
          </a:prstGeom>
          <a:noFill/>
          <a:ln/>
        </p:spPr>
        <p:txBody>
          <a:bodyPr wrap="square" lIns="0" tIns="0" rIns="0" bIns="0" rtlCol="0" anchor="ctr"/>
          <a:lstStyle/>
          <a:p>
            <a:pPr indent="0" marL="0">
              <a:buNone/>
            </a:pPr>
            <a:r>
              <a:rPr lang="en-US" sz="1400" dirty="0">
                <a:solidFill>
                  <a:schemeClr val="tx1"/>
                </a:solidFill>
              </a:rPr>
              <a:t>Bad or mismatched keys silently fall back to legacy decryption, then show a generic alert.</a:t>
            </a:r>
            <a:endParaRPr lang="en-US" sz="1400" dirty="0"/>
          </a:p>
        </p:txBody>
      </p:sp>
      <p:sp>
        <p:nvSpPr>
          <p:cNvPr id="27" name="Gap 4 Evidence"/>
          <p:cNvSpPr txBox="1"/>
          <p:nvPr/>
        </p:nvSpPr>
        <p:spPr>
          <a:xfrm>
            <a:off x="8001000" y="4005072"/>
            <a:ext cx="3566160" cy="749808"/>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excalidraw-app/data/index.ts:230-241</a:t>
            </a:r>
            <a:endParaRPr lang="en-US" sz="1100" dirty="0"/>
          </a:p>
        </p:txBody>
      </p:sp>
      <p:sp>
        <p:nvSpPr>
          <p:cNvPr id="28" name="Gap 5 Row"/>
          <p:cNvSpPr/>
          <p:nvPr/>
        </p:nvSpPr>
        <p:spPr>
          <a:xfrm>
            <a:off x="548640" y="4882896"/>
            <a:ext cx="11091672" cy="749808"/>
          </a:xfrm>
          <a:prstGeom prst="roundRect">
            <a:avLst>
              <a:gd name="adj" fmla="val 9756"/>
            </a:avLst>
          </a:prstGeom>
          <a:solidFill>
            <a:schemeClr val="bg1"/>
          </a:solidFill>
          <a:ln w="12700">
            <a:solidFill>
              <a:schemeClr val="accent5"/>
            </a:solidFill>
            <a:prstDash val="solid"/>
          </a:ln>
        </p:spPr>
      </p:sp>
      <p:sp>
        <p:nvSpPr>
          <p:cNvPr id="29" name="Gap 5 Badge"/>
          <p:cNvSpPr/>
          <p:nvPr/>
        </p:nvSpPr>
        <p:spPr>
          <a:xfrm>
            <a:off x="731520" y="5056632"/>
            <a:ext cx="402336" cy="402336"/>
          </a:xfrm>
          <a:prstGeom prst="ellipse">
            <a:avLst/>
          </a:prstGeom>
          <a:solidFill>
            <a:schemeClr val="tx1"/>
          </a:solidFill>
          <a:ln w="12700">
            <a:solidFill>
              <a:schemeClr val="tx1"/>
            </a:solidFill>
            <a:prstDash val="solid"/>
          </a:ln>
        </p:spPr>
      </p:sp>
      <p:sp>
        <p:nvSpPr>
          <p:cNvPr id="30" name="Gap 5 Num"/>
          <p:cNvSpPr txBox="1"/>
          <p:nvPr/>
        </p:nvSpPr>
        <p:spPr>
          <a:xfrm>
            <a:off x="731520" y="505663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Gap 5 Type"/>
          <p:cNvSpPr txBox="1"/>
          <p:nvPr/>
        </p:nvSpPr>
        <p:spPr>
          <a:xfrm>
            <a:off x="1325880" y="4882896"/>
            <a:ext cx="1508760" cy="749808"/>
          </a:xfrm>
          <a:prstGeom prst="rect">
            <a:avLst/>
          </a:prstGeom>
          <a:noFill/>
          <a:ln/>
        </p:spPr>
        <p:txBody>
          <a:bodyPr wrap="square" lIns="0" tIns="0" rIns="0" bIns="0" rtlCol="0" anchor="ctr"/>
          <a:lstStyle/>
          <a:p>
            <a:pPr indent="0" marL="0">
              <a:buNone/>
            </a:pPr>
            <a:r>
              <a:rPr lang="en-US" sz="1200" b="1" spc="100" kern="0" dirty="0">
                <a:solidFill>
                  <a:schemeClr val="tx2"/>
                </a:solidFill>
              </a:rPr>
              <a:t>STORAGE</a:t>
            </a:r>
            <a:endParaRPr lang="en-US" sz="1200" dirty="0"/>
          </a:p>
        </p:txBody>
      </p:sp>
      <p:sp>
        <p:nvSpPr>
          <p:cNvPr id="32" name="Gap 5 Text"/>
          <p:cNvSpPr txBox="1"/>
          <p:nvPr/>
        </p:nvSpPr>
        <p:spPr>
          <a:xfrm>
            <a:off x="2926080" y="4882896"/>
            <a:ext cx="4892040" cy="749808"/>
          </a:xfrm>
          <a:prstGeom prst="rect">
            <a:avLst/>
          </a:prstGeom>
          <a:noFill/>
          <a:ln/>
        </p:spPr>
        <p:txBody>
          <a:bodyPr wrap="square" lIns="0" tIns="0" rIns="0" bIns="0" rtlCol="0" anchor="ctr"/>
          <a:lstStyle/>
          <a:p>
            <a:pPr indent="0" marL="0">
              <a:buNone/>
            </a:pPr>
            <a:r>
              <a:rPr lang="en-US" sz="1400" dirty="0">
                <a:solidFill>
                  <a:schemeClr val="tx1"/>
                </a:solidFill>
              </a:rPr>
              <a:t>Hitting the storage quota sets a flag but never backs up the unsaved work.</a:t>
            </a:r>
            <a:endParaRPr lang="en-US" sz="1400" dirty="0"/>
          </a:p>
        </p:txBody>
      </p:sp>
      <p:sp>
        <p:nvSpPr>
          <p:cNvPr id="33" name="Gap 5 Evidence"/>
          <p:cNvSpPr txBox="1"/>
          <p:nvPr/>
        </p:nvSpPr>
        <p:spPr>
          <a:xfrm>
            <a:off x="8001000" y="4882896"/>
            <a:ext cx="3566160" cy="749808"/>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excalidraw-app/data/LocalData.ts:129-131</a:t>
            </a:r>
            <a:endParaRPr lang="en-US" sz="1100" dirty="0"/>
          </a:p>
        </p:txBody>
      </p:sp>
      <p:sp>
        <p:nvSpPr>
          <p:cNvPr id="34" name="Gaps Caption"/>
          <p:cNvSpPr txBox="1"/>
          <p:nvPr/>
        </p:nvSpPr>
        <p:spPr>
          <a:xfrm>
            <a:off x="548640" y="5852160"/>
            <a:ext cx="11091672" cy="320040"/>
          </a:xfrm>
          <a:prstGeom prst="rect">
            <a:avLst/>
          </a:prstGeom>
          <a:noFill/>
          <a:ln/>
        </p:spPr>
        <p:txBody>
          <a:bodyPr wrap="square" lIns="0" tIns="0" rIns="0" bIns="0" rtlCol="0" anchor="ctr"/>
          <a:lstStyle/>
          <a:p>
            <a:pPr indent="0" marL="0">
              <a:buNone/>
            </a:pPr>
            <a:r>
              <a:rPr lang="en-US" sz="1200" i="1" dirty="0">
                <a:solidFill>
                  <a:schemeClr val="accent6"/>
                </a:solidFill>
              </a:rPr>
              <a:t>Each claim was checked against the source at file:line. Full list in docs/GAPS.md and docs/OBSERVATIONS.md.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The fix: lock down the open Firebase rules</a:t>
            </a:r>
            <a:endParaRPr lang="en-US" sz="3600" dirty="0"/>
          </a:p>
        </p:txBody>
      </p:sp>
      <p:sp>
        <p:nvSpPr>
          <p:cNvPr id="3" name="Before Card"/>
          <p:cNvSpPr/>
          <p:nvPr/>
        </p:nvSpPr>
        <p:spPr>
          <a:xfrm>
            <a:off x="548640" y="1371600"/>
            <a:ext cx="4937760" cy="4069080"/>
          </a:xfrm>
          <a:prstGeom prst="roundRect">
            <a:avLst>
              <a:gd name="adj" fmla="val 1798"/>
            </a:avLst>
          </a:prstGeom>
          <a:solidFill>
            <a:schemeClr val="bg1"/>
          </a:solidFill>
          <a:ln w="25400">
            <a:solidFill>
              <a:schemeClr val="accent4"/>
            </a:solidFill>
            <a:prstDash val="solid"/>
          </a:ln>
        </p:spPr>
      </p:sp>
      <p:sp>
        <p:nvSpPr>
          <p:cNvPr id="4" name="Before Pill"/>
          <p:cNvSpPr/>
          <p:nvPr/>
        </p:nvSpPr>
        <p:spPr>
          <a:xfrm>
            <a:off x="822960" y="1600200"/>
            <a:ext cx="2103120" cy="329184"/>
          </a:xfrm>
          <a:prstGeom prst="roundRect">
            <a:avLst>
              <a:gd name="adj" fmla="val 50000"/>
            </a:avLst>
          </a:prstGeom>
          <a:solidFill>
            <a:schemeClr val="accent4"/>
          </a:solidFill>
          <a:ln w="12700">
            <a:solidFill>
              <a:schemeClr val="accent4"/>
            </a:solidFill>
            <a:prstDash val="solid"/>
          </a:ln>
        </p:spPr>
      </p:sp>
      <p:sp>
        <p:nvSpPr>
          <p:cNvPr id="5" name="Before Pill Text"/>
          <p:cNvSpPr txBox="1"/>
          <p:nvPr/>
        </p:nvSpPr>
        <p:spPr>
          <a:xfrm>
            <a:off x="822960" y="1600200"/>
            <a:ext cx="21031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BEFORE · ORIGINAL</a:t>
            </a:r>
            <a:endParaRPr lang="en-US" sz="1200" dirty="0"/>
          </a:p>
        </p:txBody>
      </p:sp>
      <p:sp>
        <p:nvSpPr>
          <p:cNvPr id="6" name="Before Code Bg"/>
          <p:cNvSpPr/>
          <p:nvPr/>
        </p:nvSpPr>
        <p:spPr>
          <a:xfrm>
            <a:off x="822960" y="2103120"/>
            <a:ext cx="4389120" cy="1417320"/>
          </a:xfrm>
          <a:prstGeom prst="roundRect">
            <a:avLst>
              <a:gd name="adj" fmla="val 3871"/>
            </a:avLst>
          </a:prstGeom>
          <a:solidFill>
            <a:schemeClr val="tx1"/>
          </a:solidFill>
          <a:ln w="12700">
            <a:solidFill>
              <a:schemeClr val="tx1"/>
            </a:solidFill>
            <a:prstDash val="solid"/>
          </a:ln>
        </p:spPr>
      </p:sp>
      <p:sp>
        <p:nvSpPr>
          <p:cNvPr id="7" name="Before Code"/>
          <p:cNvSpPr txBox="1"/>
          <p:nvPr/>
        </p:nvSpPr>
        <p:spPr>
          <a:xfrm>
            <a:off x="1005840" y="2194560"/>
            <a:ext cx="4114800" cy="1234440"/>
          </a:xfrm>
          <a:prstGeom prst="rect">
            <a:avLst/>
          </a:prstGeom>
          <a:noFill/>
          <a:ln/>
        </p:spPr>
        <p:txBody>
          <a:bodyPr wrap="squar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 firestore.rules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match /{document=**} {</a:t>
            </a:r>
            <a:endParaRPr lang="en-US" sz="1300" dirty="0"/>
          </a:p>
          <a:p>
            <a:pPr indent="0" marL="0">
              <a:buNone/>
            </a:pPr>
            <a:r>
              <a:rPr lang="en-US" sz="1300" b="1" dirty="0">
                <a:solidFill>
                  <a:srgbClr val="FF8787"/>
                </a:solidFill>
                <a:latin typeface="Courier New" pitchFamily="34" charset="0"/>
                <a:ea typeface="Courier New" pitchFamily="34" charset="-122"/>
                <a:cs typeface="Courier New" pitchFamily="34" charset="-120"/>
              </a:rPr>
              <a:t>  allow get, write: if true;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allow list: if false;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8" name="Before Impact"/>
          <p:cNvSpPr txBox="1"/>
          <p:nvPr/>
        </p:nvSpPr>
        <p:spPr>
          <a:xfrm>
            <a:off x="822960" y="3703320"/>
            <a:ext cx="4389120" cy="15544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latin typeface="Courier New" pitchFamily="34" charset="0"/>
                <a:ea typeface="Courier New" pitchFamily="34" charset="-122"/>
                <a:cs typeface="Courier New" pitchFamily="34" charset="-120"/>
              </a:rPr>
              <a:t>write</a:t>
            </a:r>
            <a:pPr indent="0" marL="0">
              <a:spcAft>
                <a:spcPts val="800"/>
              </a:spcAft>
              <a:buNone/>
            </a:pPr>
            <a:r>
              <a:rPr lang="en-US" sz="1400" dirty="0">
                <a:solidFill>
                  <a:schemeClr val="tx1"/>
                </a:solidFill>
              </a:rPr>
              <a:t> = create + update + delete. Anyone holding a room ID can overwrite or wipe it, and upload a payload of any size.</a:t>
            </a:r>
            <a:endParaRPr lang="en-US" sz="1400" dirty="0"/>
          </a:p>
          <a:p>
            <a:pPr indent="0" marL="0">
              <a:spcAft>
                <a:spcPts val="800"/>
              </a:spcAft>
              <a:buNone/>
            </a:pPr>
            <a:r>
              <a:rPr lang="en-US" sz="1400" dirty="0">
                <a:solidFill>
                  <a:schemeClr val="tx2"/>
                </a:solidFill>
              </a:rPr>
              <a:t>storage.rules:4-9 leave /rooms and /shareLinks just as open.</a:t>
            </a:r>
            <a:endParaRPr lang="en-US" sz="1400" dirty="0"/>
          </a:p>
        </p:txBody>
      </p:sp>
      <p:pic>
        <p:nvPicPr>
          <p:cNvPr id="9" name="Before After Arrow" descr="becomes">    </p:cNvPr>
          <p:cNvPicPr>
            <a:picLocks noChangeAspect="1"/>
          </p:cNvPicPr>
          <p:nvPr/>
        </p:nvPicPr>
        <p:blipFill>
          <a:blip r:embed="rId1"/>
          <a:stretch>
            <a:fillRect/>
          </a:stretch>
        </p:blipFill>
        <p:spPr>
          <a:xfrm>
            <a:off x="5623560" y="3200400"/>
            <a:ext cx="365760" cy="365760"/>
          </a:xfrm>
          <a:prstGeom prst="rect">
            <a:avLst/>
          </a:prstGeom>
        </p:spPr>
      </p:pic>
      <p:sp>
        <p:nvSpPr>
          <p:cNvPr id="10" name="After Card"/>
          <p:cNvSpPr/>
          <p:nvPr/>
        </p:nvSpPr>
        <p:spPr>
          <a:xfrm>
            <a:off x="6126480" y="1371600"/>
            <a:ext cx="5513832" cy="4069080"/>
          </a:xfrm>
          <a:prstGeom prst="roundRect">
            <a:avLst>
              <a:gd name="adj" fmla="val 1798"/>
            </a:avLst>
          </a:prstGeom>
          <a:solidFill>
            <a:schemeClr val="bg1"/>
          </a:solidFill>
          <a:ln w="25400">
            <a:solidFill>
              <a:schemeClr val="tx1"/>
            </a:solidFill>
            <a:prstDash val="solid"/>
          </a:ln>
          <a:effectLst>
            <a:outerShdw sx="100000" sy="100000" kx="0" ky="0" algn="bl" rotWithShape="0" blurRad="101600" dist="63500" dir="2700000">
              <a:srgbClr val="6965DB">
                <a:alpha val="100000"/>
              </a:srgbClr>
            </a:outerShdw>
          </a:effectLst>
        </p:spPr>
      </p:sp>
      <p:sp>
        <p:nvSpPr>
          <p:cNvPr id="11" name="After Pill"/>
          <p:cNvSpPr/>
          <p:nvPr/>
        </p:nvSpPr>
        <p:spPr>
          <a:xfrm>
            <a:off x="6400800" y="1600200"/>
            <a:ext cx="2103120" cy="329184"/>
          </a:xfrm>
          <a:prstGeom prst="roundRect">
            <a:avLst>
              <a:gd name="adj" fmla="val 50000"/>
            </a:avLst>
          </a:prstGeom>
          <a:solidFill>
            <a:schemeClr val="accent3"/>
          </a:solidFill>
          <a:ln w="12700">
            <a:solidFill>
              <a:schemeClr val="accent3"/>
            </a:solidFill>
            <a:prstDash val="solid"/>
          </a:ln>
        </p:spPr>
      </p:sp>
      <p:sp>
        <p:nvSpPr>
          <p:cNvPr id="12" name="After Pill Text"/>
          <p:cNvSpPr txBox="1"/>
          <p:nvPr/>
        </p:nvSpPr>
        <p:spPr>
          <a:xfrm>
            <a:off x="6400800" y="1600200"/>
            <a:ext cx="21031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AFTER · OUR REBUILD</a:t>
            </a:r>
            <a:endParaRPr lang="en-US" sz="1200" dirty="0"/>
          </a:p>
        </p:txBody>
      </p:sp>
      <p:sp>
        <p:nvSpPr>
          <p:cNvPr id="13" name="After Code Bg"/>
          <p:cNvSpPr/>
          <p:nvPr/>
        </p:nvSpPr>
        <p:spPr>
          <a:xfrm>
            <a:off x="6400800" y="2103120"/>
            <a:ext cx="4965192" cy="3108960"/>
          </a:xfrm>
          <a:prstGeom prst="roundRect">
            <a:avLst>
              <a:gd name="adj" fmla="val 1765"/>
            </a:avLst>
          </a:prstGeom>
          <a:solidFill>
            <a:schemeClr val="tx1"/>
          </a:solidFill>
          <a:ln w="12700">
            <a:solidFill>
              <a:schemeClr val="tx1"/>
            </a:solidFill>
            <a:prstDash val="solid"/>
          </a:ln>
        </p:spPr>
      </p:sp>
      <p:sp>
        <p:nvSpPr>
          <p:cNvPr id="14" name="After Code"/>
          <p:cNvSpPr txBox="1"/>
          <p:nvPr/>
        </p:nvSpPr>
        <p:spPr>
          <a:xfrm>
            <a:off x="6583680" y="2194560"/>
            <a:ext cx="4663440" cy="292608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match /scenes/{roomId}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allow get: if true;</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allow create: if valid();</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allow update: if valid() &amp;&amp;</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request.resource.data.sceneVersion</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&gt;= resource.data.sceneVersion;</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allow delete, list: if false;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function valid()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let d = request.resource.data;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d.keys().hasOnly(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['sceneVersion','iv','ciphertext'])</a:t>
            </a:r>
            <a:endParaRPr lang="en-US" sz="1200" dirty="0"/>
          </a:p>
          <a:p>
            <a:pPr indent="0" marL="0">
              <a:buNone/>
            </a:pPr>
            <a:r>
              <a:rPr lang="en-US" sz="1200" b="1" dirty="0">
                <a:solidFill>
                  <a:srgbClr val="8CE99A"/>
                </a:solidFill>
                <a:latin typeface="Courier New" pitchFamily="34" charset="0"/>
                <a:ea typeface="Courier New" pitchFamily="34" charset="-122"/>
                <a:cs typeface="Courier New" pitchFamily="34" charset="-120"/>
              </a:rPr>
              <a:t>    &amp;&amp; d.ciphertext.size() &lt; 2097152;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5" name="Outcome 1"/>
          <p:cNvSpPr/>
          <p:nvPr/>
        </p:nvSpPr>
        <p:spPr>
          <a:xfrm>
            <a:off x="548640" y="5623560"/>
            <a:ext cx="3514344" cy="566928"/>
          </a:xfrm>
          <a:prstGeom prst="roundRect">
            <a:avLst>
              <a:gd name="adj" fmla="val 12903"/>
            </a:avLst>
          </a:prstGeom>
          <a:solidFill>
            <a:schemeClr val="bg2"/>
          </a:solidFill>
          <a:ln w="12700">
            <a:solidFill>
              <a:schemeClr val="bg2"/>
            </a:solidFill>
            <a:prstDash val="solid"/>
          </a:ln>
        </p:spPr>
      </p:sp>
      <p:sp>
        <p:nvSpPr>
          <p:cNvPr id="16" name="Outcome 1 Text"/>
          <p:cNvSpPr txBox="1"/>
          <p:nvPr/>
        </p:nvSpPr>
        <p:spPr>
          <a:xfrm>
            <a:off x="731520" y="5623560"/>
            <a:ext cx="3148584" cy="566928"/>
          </a:xfrm>
          <a:prstGeom prst="rect">
            <a:avLst/>
          </a:prstGeom>
          <a:noFill/>
          <a:ln/>
        </p:spPr>
        <p:txBody>
          <a:bodyPr wrap="square" lIns="0" tIns="0" rIns="0" bIns="0" rtlCol="0" anchor="ctr"/>
          <a:lstStyle/>
          <a:p>
            <a:pPr indent="0" marL="0">
              <a:buNone/>
            </a:pPr>
            <a:r>
              <a:rPr lang="en-US" sz="1400" b="1" dirty="0">
                <a:solidFill>
                  <a:schemeClr val="accent1"/>
                </a:solidFill>
              </a:rPr>
              <a:t>Schema-checked  </a:t>
            </a:r>
            <a:pPr indent="0" marL="0">
              <a:buNone/>
            </a:pPr>
            <a:r>
              <a:rPr lang="en-US" sz="1400" dirty="0">
                <a:solidFill>
                  <a:schemeClr val="tx1"/>
                </a:solidFill>
              </a:rPr>
              <a:t>only sceneVersion, iv, ciphertext</a:t>
            </a:r>
            <a:endParaRPr lang="en-US" sz="1400" dirty="0"/>
          </a:p>
        </p:txBody>
      </p:sp>
      <p:sp>
        <p:nvSpPr>
          <p:cNvPr id="17" name="Outcome 2"/>
          <p:cNvSpPr/>
          <p:nvPr/>
        </p:nvSpPr>
        <p:spPr>
          <a:xfrm>
            <a:off x="4337304" y="5623560"/>
            <a:ext cx="3514344" cy="566928"/>
          </a:xfrm>
          <a:prstGeom prst="roundRect">
            <a:avLst>
              <a:gd name="adj" fmla="val 12903"/>
            </a:avLst>
          </a:prstGeom>
          <a:solidFill>
            <a:schemeClr val="bg2"/>
          </a:solidFill>
          <a:ln w="12700">
            <a:solidFill>
              <a:schemeClr val="bg2"/>
            </a:solidFill>
            <a:prstDash val="solid"/>
          </a:ln>
        </p:spPr>
      </p:sp>
      <p:sp>
        <p:nvSpPr>
          <p:cNvPr id="18" name="Outcome 2 Text"/>
          <p:cNvSpPr txBox="1"/>
          <p:nvPr/>
        </p:nvSpPr>
        <p:spPr>
          <a:xfrm>
            <a:off x="4520184" y="5623560"/>
            <a:ext cx="3148584" cy="566928"/>
          </a:xfrm>
          <a:prstGeom prst="rect">
            <a:avLst/>
          </a:prstGeom>
          <a:noFill/>
          <a:ln/>
        </p:spPr>
        <p:txBody>
          <a:bodyPr wrap="square" lIns="0" tIns="0" rIns="0" bIns="0" rtlCol="0" anchor="ctr"/>
          <a:lstStyle/>
          <a:p>
            <a:pPr indent="0" marL="0">
              <a:buNone/>
            </a:pPr>
            <a:r>
              <a:rPr lang="en-US" sz="1400" b="1" dirty="0">
                <a:solidFill>
                  <a:schemeClr val="accent1"/>
                </a:solidFill>
              </a:rPr>
              <a:t>Size-capped  </a:t>
            </a:r>
            <a:pPr indent="0" marL="0">
              <a:buNone/>
            </a:pPr>
            <a:r>
              <a:rPr lang="en-US" sz="1400" dirty="0">
                <a:solidFill>
                  <a:schemeClr val="tx1"/>
                </a:solidFill>
              </a:rPr>
              <a:t>scenes under 2 MB; files capped too</a:t>
            </a:r>
            <a:endParaRPr lang="en-US" sz="1400" dirty="0"/>
          </a:p>
        </p:txBody>
      </p:sp>
      <p:sp>
        <p:nvSpPr>
          <p:cNvPr id="19" name="Outcome 3"/>
          <p:cNvSpPr/>
          <p:nvPr/>
        </p:nvSpPr>
        <p:spPr>
          <a:xfrm>
            <a:off x="8125968" y="5623560"/>
            <a:ext cx="3514344" cy="566928"/>
          </a:xfrm>
          <a:prstGeom prst="roundRect">
            <a:avLst>
              <a:gd name="adj" fmla="val 12903"/>
            </a:avLst>
          </a:prstGeom>
          <a:solidFill>
            <a:schemeClr val="bg2"/>
          </a:solidFill>
          <a:ln w="12700">
            <a:solidFill>
              <a:schemeClr val="bg2"/>
            </a:solidFill>
            <a:prstDash val="solid"/>
          </a:ln>
        </p:spPr>
      </p:sp>
      <p:sp>
        <p:nvSpPr>
          <p:cNvPr id="20" name="Outcome 3 Text"/>
          <p:cNvSpPr txBox="1"/>
          <p:nvPr/>
        </p:nvSpPr>
        <p:spPr>
          <a:xfrm>
            <a:off x="8308848" y="5623560"/>
            <a:ext cx="3148584" cy="566928"/>
          </a:xfrm>
          <a:prstGeom prst="rect">
            <a:avLst/>
          </a:prstGeom>
          <a:noFill/>
          <a:ln/>
        </p:spPr>
        <p:txBody>
          <a:bodyPr wrap="square" lIns="0" tIns="0" rIns="0" bIns="0" rtlCol="0" anchor="ctr"/>
          <a:lstStyle/>
          <a:p>
            <a:pPr indent="0" marL="0">
              <a:buNone/>
            </a:pPr>
            <a:r>
              <a:rPr lang="en-US" sz="1400" b="1" dirty="0">
                <a:solidFill>
                  <a:schemeClr val="accent1"/>
                </a:solidFill>
              </a:rPr>
              <a:t>No wipes or rollbacks  </a:t>
            </a:r>
            <a:pPr indent="0" marL="0">
              <a:buNone/>
            </a:pPr>
            <a:r>
              <a:rPr lang="en-US" sz="1400" dirty="0">
                <a:solidFill>
                  <a:schemeClr val="tx1"/>
                </a:solidFill>
              </a:rPr>
              <a:t>no deletes, version never goes back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New: burn-after-read sketches</a:t>
            </a:r>
            <a:endParaRPr lang="en-US" sz="3600" dirty="0"/>
          </a:p>
        </p:txBody>
      </p:sp>
      <p:sp>
        <p:nvSpPr>
          <p:cNvPr id="3" name="Burn Subtitle"/>
          <p:cNvSpPr txBox="1"/>
          <p:nvPr/>
        </p:nvSpPr>
        <p:spPr>
          <a:xfrm>
            <a:off x="548640" y="1188720"/>
            <a:ext cx="10515600" cy="640080"/>
          </a:xfrm>
          <a:prstGeom prst="rect">
            <a:avLst/>
          </a:prstGeom>
          <a:noFill/>
          <a:ln/>
        </p:spPr>
        <p:txBody>
          <a:bodyPr wrap="square" lIns="0" tIns="0" rIns="0" bIns="0" rtlCol="0" anchor="t"/>
          <a:lstStyle/>
          <a:p>
            <a:pPr indent="0" marL="0">
              <a:buNone/>
            </a:pPr>
            <a:r>
              <a:rPr lang="en-US" sz="1600" dirty="0">
                <a:solidFill>
                  <a:schemeClr val="accent5"/>
                </a:solidFill>
              </a:rPr>
              <a:t>End-to-end encrypted share links that self-destruct after N views or a timer. The server never sees the drawing, and after the last view it no longer stores it either.</a:t>
            </a:r>
            <a:endParaRPr lang="en-US" sz="1600" dirty="0"/>
          </a:p>
        </p:txBody>
      </p:sp>
      <p:sp>
        <p:nvSpPr>
          <p:cNvPr id="4" name="Burn Step 1"/>
          <p:cNvSpPr/>
          <p:nvPr/>
        </p:nvSpPr>
        <p:spPr>
          <a:xfrm>
            <a:off x="548640" y="2011680"/>
            <a:ext cx="2498598" cy="2331720"/>
          </a:xfrm>
          <a:prstGeom prst="roundRect">
            <a:avLst>
              <a:gd name="adj" fmla="val 3137"/>
            </a:avLst>
          </a:prstGeom>
          <a:solidFill>
            <a:schemeClr val="bg1"/>
          </a:solidFill>
          <a:ln w="12700">
            <a:solidFill>
              <a:schemeClr val="bg1"/>
            </a:solidFill>
            <a:prstDash val="solid"/>
          </a:ln>
          <a:effectLst>
            <a:outerShdw sx="100000" sy="100000" kx="0" ky="0" algn="bl" rotWithShape="0" blurRad="101600" dist="63500" dir="2700000">
              <a:srgbClr val="FF6B3D">
                <a:alpha val="100000"/>
              </a:srgbClr>
            </a:outerShdw>
          </a:effectLst>
        </p:spPr>
      </p:sp>
      <p:sp>
        <p:nvSpPr>
          <p:cNvPr id="5" name="Burn Step 1 Badge"/>
          <p:cNvSpPr/>
          <p:nvPr/>
        </p:nvSpPr>
        <p:spPr>
          <a:xfrm>
            <a:off x="777240" y="2240280"/>
            <a:ext cx="548640" cy="548640"/>
          </a:xfrm>
          <a:prstGeom prst="ellipse">
            <a:avLst/>
          </a:prstGeom>
          <a:solidFill>
            <a:schemeClr val="tx1"/>
          </a:solidFill>
          <a:ln w="12700">
            <a:solidFill>
              <a:schemeClr val="tx1"/>
            </a:solidFill>
            <a:prstDash val="solid"/>
          </a:ln>
        </p:spPr>
      </p:sp>
      <p:pic>
        <p:nvPicPr>
          <p:cNvPr id="6" name="Burn Step 1 Icon" descr="1  Pick a fuse">    </p:cNvPr>
          <p:cNvPicPr>
            <a:picLocks noChangeAspect="1"/>
          </p:cNvPicPr>
          <p:nvPr/>
        </p:nvPicPr>
        <p:blipFill>
          <a:blip r:embed="rId1"/>
          <a:stretch>
            <a:fillRect/>
          </a:stretch>
        </p:blipFill>
        <p:spPr>
          <a:xfrm>
            <a:off x="905256" y="2368296"/>
            <a:ext cx="292608" cy="292608"/>
          </a:xfrm>
          <a:prstGeom prst="rect">
            <a:avLst/>
          </a:prstGeom>
        </p:spPr>
      </p:pic>
      <p:sp>
        <p:nvSpPr>
          <p:cNvPr id="7" name="Burn Step 1 Title"/>
          <p:cNvSpPr txBox="1"/>
          <p:nvPr/>
        </p:nvSpPr>
        <p:spPr>
          <a:xfrm>
            <a:off x="777240" y="2926080"/>
            <a:ext cx="2041398" cy="365760"/>
          </a:xfrm>
          <a:prstGeom prst="rect">
            <a:avLst/>
          </a:prstGeom>
          <a:noFill/>
          <a:ln/>
        </p:spPr>
        <p:txBody>
          <a:bodyPr wrap="square" lIns="0" tIns="0" rIns="0" bIns="0" rtlCol="0" anchor="ctr"/>
          <a:lstStyle/>
          <a:p>
            <a:pPr indent="0" marL="0">
              <a:buNone/>
            </a:pPr>
            <a:r>
              <a:rPr lang="en-US" sz="1700" b="1" dirty="0">
                <a:solidFill>
                  <a:schemeClr val="tx1"/>
                </a:solidFill>
              </a:rPr>
              <a:t>1  Pick a fuse</a:t>
            </a:r>
            <a:endParaRPr lang="en-US" sz="1700" dirty="0"/>
          </a:p>
        </p:txBody>
      </p:sp>
      <p:sp>
        <p:nvSpPr>
          <p:cNvPr id="8" name="Burn Step 1 Body"/>
          <p:cNvSpPr txBox="1"/>
          <p:nvPr/>
        </p:nvSpPr>
        <p:spPr>
          <a:xfrm>
            <a:off x="777240" y="3310128"/>
            <a:ext cx="2041398" cy="914400"/>
          </a:xfrm>
          <a:prstGeom prst="rect">
            <a:avLst/>
          </a:prstGeom>
          <a:noFill/>
          <a:ln/>
        </p:spPr>
        <p:txBody>
          <a:bodyPr wrap="square" lIns="0" tIns="0" rIns="0" bIns="0" rtlCol="0" anchor="t"/>
          <a:lstStyle/>
          <a:p>
            <a:pPr indent="0" marL="0">
              <a:buNone/>
            </a:pPr>
            <a:r>
              <a:rPr lang="en-US" sz="1400" dirty="0">
                <a:solidFill>
                  <a:schemeClr val="tx2"/>
                </a:solidFill>
              </a:rPr>
              <a:t>1 view, 5 views, 1 hour or 24 hours, chosen at export time.</a:t>
            </a:r>
            <a:endParaRPr lang="en-US" sz="1400" dirty="0"/>
          </a:p>
        </p:txBody>
      </p:sp>
      <p:sp>
        <p:nvSpPr>
          <p:cNvPr id="9" name="Burn Step 2"/>
          <p:cNvSpPr/>
          <p:nvPr/>
        </p:nvSpPr>
        <p:spPr>
          <a:xfrm>
            <a:off x="3412998" y="2011680"/>
            <a:ext cx="2498598" cy="2331720"/>
          </a:xfrm>
          <a:prstGeom prst="roundRect">
            <a:avLst>
              <a:gd name="adj" fmla="val 3137"/>
            </a:avLst>
          </a:prstGeom>
          <a:solidFill>
            <a:schemeClr val="bg1"/>
          </a:solidFill>
          <a:ln w="12700">
            <a:solidFill>
              <a:schemeClr val="bg1"/>
            </a:solidFill>
            <a:prstDash val="solid"/>
          </a:ln>
          <a:effectLst>
            <a:outerShdw sx="100000" sy="100000" kx="0" ky="0" algn="bl" rotWithShape="0" blurRad="101600" dist="63500" dir="2700000">
              <a:srgbClr val="FF6B3D">
                <a:alpha val="100000"/>
              </a:srgbClr>
            </a:outerShdw>
          </a:effectLst>
        </p:spPr>
      </p:sp>
      <p:sp>
        <p:nvSpPr>
          <p:cNvPr id="10" name="Burn Step 2 Badge"/>
          <p:cNvSpPr/>
          <p:nvPr/>
        </p:nvSpPr>
        <p:spPr>
          <a:xfrm>
            <a:off x="3641598" y="2240280"/>
            <a:ext cx="548640" cy="548640"/>
          </a:xfrm>
          <a:prstGeom prst="ellipse">
            <a:avLst/>
          </a:prstGeom>
          <a:solidFill>
            <a:schemeClr val="tx1"/>
          </a:solidFill>
          <a:ln w="12700">
            <a:solidFill>
              <a:schemeClr val="tx1"/>
            </a:solidFill>
            <a:prstDash val="solid"/>
          </a:ln>
        </p:spPr>
      </p:sp>
      <p:pic>
        <p:nvPicPr>
          <p:cNvPr id="11" name="Burn Step 2 Icon" descr="2  Encrypt locally">    </p:cNvPr>
          <p:cNvPicPr>
            <a:picLocks noChangeAspect="1"/>
          </p:cNvPicPr>
          <p:nvPr/>
        </p:nvPicPr>
        <p:blipFill>
          <a:blip r:embed="rId2"/>
          <a:stretch>
            <a:fillRect/>
          </a:stretch>
        </p:blipFill>
        <p:spPr>
          <a:xfrm>
            <a:off x="3769614" y="2368296"/>
            <a:ext cx="292608" cy="292608"/>
          </a:xfrm>
          <a:prstGeom prst="rect">
            <a:avLst/>
          </a:prstGeom>
        </p:spPr>
      </p:pic>
      <p:sp>
        <p:nvSpPr>
          <p:cNvPr id="12" name="Burn Step 2 Title"/>
          <p:cNvSpPr txBox="1"/>
          <p:nvPr/>
        </p:nvSpPr>
        <p:spPr>
          <a:xfrm>
            <a:off x="3641598" y="2926080"/>
            <a:ext cx="2041398" cy="365760"/>
          </a:xfrm>
          <a:prstGeom prst="rect">
            <a:avLst/>
          </a:prstGeom>
          <a:noFill/>
          <a:ln/>
        </p:spPr>
        <p:txBody>
          <a:bodyPr wrap="square" lIns="0" tIns="0" rIns="0" bIns="0" rtlCol="0" anchor="ctr"/>
          <a:lstStyle/>
          <a:p>
            <a:pPr indent="0" marL="0">
              <a:buNone/>
            </a:pPr>
            <a:r>
              <a:rPr lang="en-US" sz="1700" b="1" dirty="0">
                <a:solidFill>
                  <a:schemeClr val="tx1"/>
                </a:solidFill>
              </a:rPr>
              <a:t>2  Encrypt locally</a:t>
            </a:r>
            <a:endParaRPr lang="en-US" sz="1700" dirty="0"/>
          </a:p>
        </p:txBody>
      </p:sp>
      <p:sp>
        <p:nvSpPr>
          <p:cNvPr id="13" name="Burn Step 2 Body"/>
          <p:cNvSpPr txBox="1"/>
          <p:nvPr/>
        </p:nvSpPr>
        <p:spPr>
          <a:xfrm>
            <a:off x="3641598" y="3310128"/>
            <a:ext cx="2041398" cy="914400"/>
          </a:xfrm>
          <a:prstGeom prst="rect">
            <a:avLst/>
          </a:prstGeom>
          <a:noFill/>
          <a:ln/>
        </p:spPr>
        <p:txBody>
          <a:bodyPr wrap="square" lIns="0" tIns="0" rIns="0" bIns="0" rtlCol="0" anchor="t"/>
          <a:lstStyle/>
          <a:p>
            <a:pPr indent="0" marL="0">
              <a:buNone/>
            </a:pPr>
            <a:r>
              <a:rPr lang="en-US" sz="1400" dirty="0">
                <a:solidFill>
                  <a:schemeClr val="tx2"/>
                </a:solidFill>
              </a:rPr>
              <a:t>Same deflate + AES-GCM pipeline. Key lives only in #burn=id,key.</a:t>
            </a:r>
            <a:endParaRPr lang="en-US" sz="1400" dirty="0"/>
          </a:p>
        </p:txBody>
      </p:sp>
      <p:sp>
        <p:nvSpPr>
          <p:cNvPr id="14" name="Burn Step 3"/>
          <p:cNvSpPr/>
          <p:nvPr/>
        </p:nvSpPr>
        <p:spPr>
          <a:xfrm>
            <a:off x="6277356" y="2011680"/>
            <a:ext cx="2498598" cy="2331720"/>
          </a:xfrm>
          <a:prstGeom prst="roundRect">
            <a:avLst>
              <a:gd name="adj" fmla="val 3137"/>
            </a:avLst>
          </a:prstGeom>
          <a:solidFill>
            <a:schemeClr val="bg1"/>
          </a:solidFill>
          <a:ln w="12700">
            <a:solidFill>
              <a:schemeClr val="bg1"/>
            </a:solidFill>
            <a:prstDash val="solid"/>
          </a:ln>
          <a:effectLst>
            <a:outerShdw sx="100000" sy="100000" kx="0" ky="0" algn="bl" rotWithShape="0" blurRad="101600" dist="63500" dir="2700000">
              <a:srgbClr val="FF6B3D">
                <a:alpha val="100000"/>
              </a:srgbClr>
            </a:outerShdw>
          </a:effectLst>
        </p:spPr>
      </p:sp>
      <p:sp>
        <p:nvSpPr>
          <p:cNvPr id="15" name="Burn Step 3 Badge"/>
          <p:cNvSpPr/>
          <p:nvPr/>
        </p:nvSpPr>
        <p:spPr>
          <a:xfrm>
            <a:off x="6505956" y="2240280"/>
            <a:ext cx="548640" cy="548640"/>
          </a:xfrm>
          <a:prstGeom prst="ellipse">
            <a:avLst/>
          </a:prstGeom>
          <a:solidFill>
            <a:schemeClr val="tx1"/>
          </a:solidFill>
          <a:ln w="12700">
            <a:solidFill>
              <a:schemeClr val="tx1"/>
            </a:solidFill>
            <a:prstDash val="solid"/>
          </a:ln>
        </p:spPr>
      </p:sp>
      <p:pic>
        <p:nvPicPr>
          <p:cNvPr id="16" name="Burn Step 3 Icon" descr="3  Claim atomically">    </p:cNvPr>
          <p:cNvPicPr>
            <a:picLocks noChangeAspect="1"/>
          </p:cNvPicPr>
          <p:nvPr/>
        </p:nvPicPr>
        <p:blipFill>
          <a:blip r:embed="rId3"/>
          <a:stretch>
            <a:fillRect/>
          </a:stretch>
        </p:blipFill>
        <p:spPr>
          <a:xfrm>
            <a:off x="6633972" y="2368296"/>
            <a:ext cx="292608" cy="292608"/>
          </a:xfrm>
          <a:prstGeom prst="rect">
            <a:avLst/>
          </a:prstGeom>
        </p:spPr>
      </p:pic>
      <p:sp>
        <p:nvSpPr>
          <p:cNvPr id="17" name="Burn Step 3 Title"/>
          <p:cNvSpPr txBox="1"/>
          <p:nvPr/>
        </p:nvSpPr>
        <p:spPr>
          <a:xfrm>
            <a:off x="6505956" y="2926080"/>
            <a:ext cx="2041398" cy="365760"/>
          </a:xfrm>
          <a:prstGeom prst="rect">
            <a:avLst/>
          </a:prstGeom>
          <a:noFill/>
          <a:ln/>
        </p:spPr>
        <p:txBody>
          <a:bodyPr wrap="square" lIns="0" tIns="0" rIns="0" bIns="0" rtlCol="0" anchor="ctr"/>
          <a:lstStyle/>
          <a:p>
            <a:pPr indent="0" marL="0">
              <a:buNone/>
            </a:pPr>
            <a:r>
              <a:rPr lang="en-US" sz="1700" b="1" dirty="0">
                <a:solidFill>
                  <a:schemeClr val="tx1"/>
                </a:solidFill>
              </a:rPr>
              <a:t>3  Claim atomically</a:t>
            </a:r>
            <a:endParaRPr lang="en-US" sz="1700" dirty="0"/>
          </a:p>
        </p:txBody>
      </p:sp>
      <p:sp>
        <p:nvSpPr>
          <p:cNvPr id="18" name="Burn Step 3 Body"/>
          <p:cNvSpPr txBox="1"/>
          <p:nvPr/>
        </p:nvSpPr>
        <p:spPr>
          <a:xfrm>
            <a:off x="6505956" y="3310128"/>
            <a:ext cx="2041398" cy="914400"/>
          </a:xfrm>
          <a:prstGeom prst="rect">
            <a:avLst/>
          </a:prstGeom>
          <a:noFill/>
          <a:ln/>
        </p:spPr>
        <p:txBody>
          <a:bodyPr wrap="square" lIns="0" tIns="0" rIns="0" bIns="0" rtlCol="0" anchor="t"/>
          <a:lstStyle/>
          <a:p>
            <a:pPr indent="0" marL="0">
              <a:buNone/>
            </a:pPr>
            <a:r>
              <a:rPr lang="en-US" sz="1400" dirty="0">
                <a:solidFill>
                  <a:schemeClr val="tx2"/>
                </a:solidFill>
              </a:rPr>
              <a:t>A Cloud Function transaction checks expiry, decrements views, returns ciphertext.</a:t>
            </a:r>
            <a:endParaRPr lang="en-US" sz="1400" dirty="0"/>
          </a:p>
        </p:txBody>
      </p:sp>
      <p:sp>
        <p:nvSpPr>
          <p:cNvPr id="19" name="Burn Step 4"/>
          <p:cNvSpPr/>
          <p:nvPr/>
        </p:nvSpPr>
        <p:spPr>
          <a:xfrm>
            <a:off x="9141714" y="2011680"/>
            <a:ext cx="2498598" cy="2331720"/>
          </a:xfrm>
          <a:prstGeom prst="roundRect">
            <a:avLst>
              <a:gd name="adj" fmla="val 3137"/>
            </a:avLst>
          </a:prstGeom>
          <a:solidFill>
            <a:schemeClr val="bg1"/>
          </a:solidFill>
          <a:ln w="12700">
            <a:solidFill>
              <a:schemeClr val="bg1"/>
            </a:solidFill>
            <a:prstDash val="solid"/>
          </a:ln>
          <a:effectLst>
            <a:outerShdw sx="100000" sy="100000" kx="0" ky="0" algn="bl" rotWithShape="0" blurRad="101600" dist="63500" dir="2700000">
              <a:srgbClr val="FF6B3D">
                <a:alpha val="100000"/>
              </a:srgbClr>
            </a:outerShdw>
          </a:effectLst>
        </p:spPr>
      </p:sp>
      <p:sp>
        <p:nvSpPr>
          <p:cNvPr id="20" name="Burn Step 4 Badge"/>
          <p:cNvSpPr/>
          <p:nvPr/>
        </p:nvSpPr>
        <p:spPr>
          <a:xfrm>
            <a:off x="9370314" y="2240280"/>
            <a:ext cx="548640" cy="548640"/>
          </a:xfrm>
          <a:prstGeom prst="ellipse">
            <a:avLst/>
          </a:prstGeom>
          <a:solidFill>
            <a:schemeClr val="accent2"/>
          </a:solidFill>
          <a:ln w="12700">
            <a:solidFill>
              <a:schemeClr val="accent2"/>
            </a:solidFill>
            <a:prstDash val="solid"/>
          </a:ln>
        </p:spPr>
      </p:sp>
      <p:pic>
        <p:nvPicPr>
          <p:cNvPr id="21" name="Burn Step 4 Icon" descr="4  Burn">    </p:cNvPr>
          <p:cNvPicPr>
            <a:picLocks noChangeAspect="1"/>
          </p:cNvPicPr>
          <p:nvPr/>
        </p:nvPicPr>
        <p:blipFill>
          <a:blip r:embed="rId4"/>
          <a:stretch>
            <a:fillRect/>
          </a:stretch>
        </p:blipFill>
        <p:spPr>
          <a:xfrm>
            <a:off x="9498330" y="2368296"/>
            <a:ext cx="292608" cy="292608"/>
          </a:xfrm>
          <a:prstGeom prst="rect">
            <a:avLst/>
          </a:prstGeom>
        </p:spPr>
      </p:pic>
      <p:sp>
        <p:nvSpPr>
          <p:cNvPr id="22" name="Burn Step 4 Title"/>
          <p:cNvSpPr txBox="1"/>
          <p:nvPr/>
        </p:nvSpPr>
        <p:spPr>
          <a:xfrm>
            <a:off x="9370314" y="2926080"/>
            <a:ext cx="2041398" cy="365760"/>
          </a:xfrm>
          <a:prstGeom prst="rect">
            <a:avLst/>
          </a:prstGeom>
          <a:noFill/>
          <a:ln/>
        </p:spPr>
        <p:txBody>
          <a:bodyPr wrap="square" lIns="0" tIns="0" rIns="0" bIns="0" rtlCol="0" anchor="ctr"/>
          <a:lstStyle/>
          <a:p>
            <a:pPr indent="0" marL="0">
              <a:buNone/>
            </a:pPr>
            <a:r>
              <a:rPr lang="en-US" sz="1700" b="1" dirty="0">
                <a:solidFill>
                  <a:schemeClr val="tx1"/>
                </a:solidFill>
              </a:rPr>
              <a:t>4  Burn</a:t>
            </a:r>
            <a:endParaRPr lang="en-US" sz="1700" dirty="0"/>
          </a:p>
        </p:txBody>
      </p:sp>
      <p:sp>
        <p:nvSpPr>
          <p:cNvPr id="23" name="Burn Step 4 Body"/>
          <p:cNvSpPr txBox="1"/>
          <p:nvPr/>
        </p:nvSpPr>
        <p:spPr>
          <a:xfrm>
            <a:off x="9370314" y="3310128"/>
            <a:ext cx="2041398" cy="914400"/>
          </a:xfrm>
          <a:prstGeom prst="rect">
            <a:avLst/>
          </a:prstGeom>
          <a:noFill/>
          <a:ln/>
        </p:spPr>
        <p:txBody>
          <a:bodyPr wrap="square" lIns="0" tIns="0" rIns="0" bIns="0" rtlCol="0" anchor="t"/>
          <a:lstStyle/>
          <a:p>
            <a:pPr indent="0" marL="0">
              <a:buNone/>
            </a:pPr>
            <a:r>
              <a:rPr lang="en-US" sz="1400" dirty="0">
                <a:solidFill>
                  <a:schemeClr val="tx2"/>
                </a:solidFill>
              </a:rPr>
              <a:t>Last view or TTL deletes the blob. Late visitors see “This sketch has burned.”</a:t>
            </a:r>
            <a:endParaRPr lang="en-US" sz="1400" dirty="0"/>
          </a:p>
        </p:txBody>
      </p:sp>
      <p:sp>
        <p:nvSpPr>
          <p:cNvPr id="24" name="Burn Panel 1"/>
          <p:cNvSpPr/>
          <p:nvPr/>
        </p:nvSpPr>
        <p:spPr>
          <a:xfrm>
            <a:off x="548640" y="4663440"/>
            <a:ext cx="5362956" cy="1508760"/>
          </a:xfrm>
          <a:prstGeom prst="roundRect">
            <a:avLst>
              <a:gd name="adj" fmla="val 4848"/>
            </a:avLst>
          </a:prstGeom>
          <a:solidFill>
            <a:schemeClr val="tx2"/>
          </a:solidFill>
          <a:ln w="12700">
            <a:solidFill>
              <a:schemeClr val="tx2"/>
            </a:solidFill>
            <a:prstDash val="solid"/>
          </a:ln>
        </p:spPr>
      </p:sp>
      <p:sp>
        <p:nvSpPr>
          <p:cNvPr id="25" name="Burn Panel 1 Head"/>
          <p:cNvSpPr txBox="1"/>
          <p:nvPr/>
        </p:nvSpPr>
        <p:spPr>
          <a:xfrm>
            <a:off x="822960" y="4828032"/>
            <a:ext cx="4814316"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WHY IT’S UNIQUE</a:t>
            </a:r>
            <a:endParaRPr lang="en-US" sz="1200" dirty="0"/>
          </a:p>
        </p:txBody>
      </p:sp>
      <p:sp>
        <p:nvSpPr>
          <p:cNvPr id="26" name="Burn Panel 1 Body"/>
          <p:cNvSpPr txBox="1"/>
          <p:nvPr/>
        </p:nvSpPr>
        <p:spPr>
          <a:xfrm>
            <a:off x="822960" y="5138928"/>
            <a:ext cx="4814316" cy="914400"/>
          </a:xfrm>
          <a:prstGeom prst="rect">
            <a:avLst/>
          </a:prstGeom>
          <a:noFill/>
          <a:ln/>
        </p:spPr>
        <p:txBody>
          <a:bodyPr wrap="square" lIns="0" tIns="0" rIns="0" bIns="0" rtlCol="0" anchor="t"/>
          <a:lstStyle/>
          <a:p>
            <a:pPr indent="0" marL="0">
              <a:buNone/>
            </a:pPr>
            <a:r>
              <a:rPr lang="en-US" sz="1400" dirty="0">
                <a:solidFill>
                  <a:schemeClr val="bg1"/>
                </a:solidFill>
              </a:rPr>
              <a:t>Disappearing chat exists. Disappearing diagrams that the server can’t read don’t. Use it for incident post-mortems, interview whiteboards and sensitive architecture.</a:t>
            </a:r>
            <a:endParaRPr lang="en-US" sz="1400" dirty="0"/>
          </a:p>
        </p:txBody>
      </p:sp>
      <p:sp>
        <p:nvSpPr>
          <p:cNvPr id="27" name="Burn Panel 2"/>
          <p:cNvSpPr/>
          <p:nvPr/>
        </p:nvSpPr>
        <p:spPr>
          <a:xfrm>
            <a:off x="6277356" y="4663440"/>
            <a:ext cx="5362956" cy="1508760"/>
          </a:xfrm>
          <a:prstGeom prst="roundRect">
            <a:avLst>
              <a:gd name="adj" fmla="val 4848"/>
            </a:avLst>
          </a:prstGeom>
          <a:solidFill>
            <a:schemeClr val="tx2"/>
          </a:solidFill>
          <a:ln w="12700">
            <a:solidFill>
              <a:schemeClr val="tx2"/>
            </a:solidFill>
            <a:prstDash val="solid"/>
          </a:ln>
        </p:spPr>
      </p:sp>
      <p:sp>
        <p:nvSpPr>
          <p:cNvPr id="28" name="Burn Panel 2 Head"/>
          <p:cNvSpPr txBox="1"/>
          <p:nvPr/>
        </p:nvSpPr>
        <p:spPr>
          <a:xfrm>
            <a:off x="6551676" y="4828032"/>
            <a:ext cx="4814316" cy="274320"/>
          </a:xfrm>
          <a:prstGeom prst="rect">
            <a:avLst/>
          </a:prstGeom>
          <a:noFill/>
          <a:ln/>
        </p:spPr>
        <p:txBody>
          <a:bodyPr wrap="square" lIns="0" tIns="0" rIns="0" bIns="0" rtlCol="0" anchor="ctr"/>
          <a:lstStyle/>
          <a:p>
            <a:pPr indent="0" marL="0">
              <a:buNone/>
            </a:pPr>
            <a:r>
              <a:rPr lang="en-US" sz="1200" b="1" spc="200" kern="0" dirty="0">
                <a:solidFill>
                  <a:schemeClr val="accent5"/>
                </a:solidFill>
              </a:rPr>
              <a:t>WHY THE FIX MATTERS HERE</a:t>
            </a:r>
            <a:endParaRPr lang="en-US" sz="1200" dirty="0"/>
          </a:p>
        </p:txBody>
      </p:sp>
      <p:sp>
        <p:nvSpPr>
          <p:cNvPr id="29" name="Burn Panel 2 Body"/>
          <p:cNvSpPr txBox="1"/>
          <p:nvPr/>
        </p:nvSpPr>
        <p:spPr>
          <a:xfrm>
            <a:off x="6551676" y="5138928"/>
            <a:ext cx="4814316" cy="914400"/>
          </a:xfrm>
          <a:prstGeom prst="rect">
            <a:avLst/>
          </a:prstGeom>
          <a:noFill/>
          <a:ln/>
        </p:spPr>
        <p:txBody>
          <a:bodyPr wrap="square" lIns="0" tIns="0" rIns="0" bIns="0" rtlCol="0" anchor="t"/>
          <a:lstStyle/>
          <a:p>
            <a:pPr indent="0" marL="0">
              <a:buNone/>
            </a:pPr>
            <a:r>
              <a:rPr lang="en-US" sz="1400" dirty="0">
                <a:solidFill>
                  <a:schemeClr val="bg1"/>
                </a:solidFill>
              </a:rPr>
              <a:t>Burn links live in a collection that clients can’t touch (allow read, write: if false). The Cloud Function is the only way in, so nobody can skip the view counter.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xcalidraw Rebuilt">
  <a:themeElements>
    <a:clrScheme name="Excalidraw Rebuilt">
      <a:dk1>
        <a:srgbClr val="1B1B1F"/>
      </a:dk1>
      <a:lt1>
        <a:srgbClr val="FFFFFF"/>
      </a:lt1>
      <a:dk2>
        <a:srgbClr val="2B2A4C"/>
      </a:dk2>
      <a:lt2>
        <a:srgbClr val="F3F2FF"/>
      </a:lt2>
      <a:accent1>
        <a:srgbClr val="6965DB"/>
      </a:accent1>
      <a:accent2>
        <a:srgbClr val="FF6B3D"/>
      </a:accent2>
      <a:accent3>
        <a:srgbClr val="2F9E44"/>
      </a:accent3>
      <a:accent4>
        <a:srgbClr val="E03131"/>
      </a:accent4>
      <a:accent5>
        <a:srgbClr val="C9C7FA"/>
      </a:accent5>
      <a:accent6>
        <a:srgbClr val="868E96"/>
      </a:accent6>
      <a:hlink>
        <a:srgbClr val="6965DB"/>
      </a:hlink>
      <a:folHlink>
        <a:srgbClr val="4A47B1"/>
      </a:folHlink>
    </a:clrScheme>
    <a:fontScheme name="Excalidraw Rebuil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Excalidraw, Rebuilt</dc:title>
  <dc:subject>Hackback rebuild: one fix, one new feature</dc:subject>
  <dc:creator>PptxGenJS</dc:creator>
  <cp:lastModifiedBy>PptxGenJS</cp:lastModifiedBy>
  <cp:revision>1</cp:revision>
  <dcterms:created xsi:type="dcterms:W3CDTF">2026-10-05T14:35:36Z</dcterms:created>
  <dcterms:modified xsi:type="dcterms:W3CDTF">2026-10-05T14:35:36Z</dcterms:modified>
</cp:coreProperties>
</file>