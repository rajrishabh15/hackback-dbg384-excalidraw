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Arimo" panose="020B0604020202020204" charset="0"/>
      <p:regular r:id="rId8"/>
    </p:embeddedFont>
    <p:embeddedFont>
      <p:font typeface="Arimo Bold" panose="020B0604020202020204" charset="0"/>
      <p:regular r:id="rId9"/>
    </p:embeddedFont>
    <p:embeddedFont>
      <p:font typeface="Arimo Semi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68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tension: enterprise teams are forced to choose between closed tools with control and open tools with freedom. This vision removes that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canvas as a complete collaboration system, not a drawing surface with enterprise features bolted on later. Each capability supports the same working loop: create, collaborate, govern, and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React client owns the canvas and local-first experience. NGINX provides the secure edge. Fastify, Hocuspocus, and Yjs coordinate live state. PostgreSQL, Redis, and S3 or MinIO give the system durable foundations.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enterprise story has three balanced parts. Security protects the workspace, performance protects the collaboration experience, and the open-source advantage protects the customer's freedom to operate and extend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sequence, not a feature dump. Start with the core canvas, add real-time CRDT collaboration, layer in workspaces and security, then scale toward enterprise compliance. The destination is both freedom and enterprise-grade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889000"/>
            <a:ext cx="10667733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OPEN COLLABORATION · ENTERPRISE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61981" y="1090910"/>
            <a:ext cx="1066773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2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Enterprise whiteboards shouldn’t force a tradeoff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61981" y="2368451"/>
            <a:ext cx="106677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Bridge the gap between expensive closed-source tools and limited open-source alternatives with an open, secure, offline-first vision.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1981" y="3549551"/>
            <a:ext cx="4389030" cy="116264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6" name="Text 4"/>
          <p:cNvSpPr/>
          <p:nvPr/>
        </p:nvSpPr>
        <p:spPr>
          <a:xfrm>
            <a:off x="990575" y="3752751"/>
            <a:ext cx="4160436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CLOSED-SOURCE TOOLS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90575" y="3954661"/>
            <a:ext cx="393184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Enterprise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0575" y="4294386"/>
            <a:ext cx="41604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Expensive and difficult to adapt.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08100" y="3549551"/>
            <a:ext cx="975494" cy="1162645"/>
          </a:xfrm>
          <a:prstGeom prst="rect">
            <a:avLst/>
          </a:prstGeom>
          <a:solidFill>
            <a:srgbClr val="C0102F"/>
          </a:solidFill>
          <a:ln/>
        </p:spPr>
      </p:sp>
      <p:sp>
        <p:nvSpPr>
          <p:cNvPr id="10" name="Text 8"/>
          <p:cNvSpPr/>
          <p:nvPr/>
        </p:nvSpPr>
        <p:spPr>
          <a:xfrm>
            <a:off x="5608100" y="4023519"/>
            <a:ext cx="97549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684" y="3549551"/>
            <a:ext cx="4389030" cy="116264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278" y="3752751"/>
            <a:ext cx="4160436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OPEN-SOURCE ALTERNATIVES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69278" y="3954661"/>
            <a:ext cx="393184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Freedom to 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278" y="4294386"/>
            <a:ext cx="41604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Limited collaboration and governance.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981" y="6024265"/>
            <a:ext cx="1127731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open, secure, offline-first whiteboard for teams that need both freedom and control.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4BE51-0F7D-A694-5C9D-56008F209E28}"/>
              </a:ext>
            </a:extLst>
          </p:cNvPr>
          <p:cNvSpPr/>
          <p:nvPr/>
        </p:nvSpPr>
        <p:spPr>
          <a:xfrm>
            <a:off x="-12752" y="6227465"/>
            <a:ext cx="12217197" cy="660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PRODUCT PRINCIPLE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5575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One canvas, built for real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392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326555"/>
            <a:ext cx="412740" cy="412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87" y="1821855"/>
            <a:ext cx="35727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Multiplayer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7987" y="2161580"/>
            <a:ext cx="35727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collaboration with Yjs CRDT synchronization.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557" y="1326555"/>
            <a:ext cx="412740" cy="412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5557" y="1821855"/>
            <a:ext cx="34712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Offline-first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85557" y="2161580"/>
            <a:ext cx="347128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Edit without a connection, then resync automatically.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629" y="1326555"/>
            <a:ext cx="412740" cy="412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61629" y="1821855"/>
            <a:ext cx="35220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Enterprise-ready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161629" y="2161580"/>
            <a:ext cx="35220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Authentication, RBAC, threaded comments, live cursors, and version history.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87" y="4016077"/>
            <a:ext cx="412740" cy="412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987" y="4511377"/>
            <a:ext cx="35727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Self-hostable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07987" y="4851102"/>
            <a:ext cx="35727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 with Docker or Kubernetes, inside your own environment.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5557" y="4016077"/>
            <a:ext cx="412740" cy="412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85557" y="4511377"/>
            <a:ext cx="72981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Fast, then finished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385557" y="4851102"/>
            <a:ext cx="729815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Hand-drawn speed with professional output when the work leaves the canvas.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07987" y="6555085"/>
            <a:ext cx="3066378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Enterprise whiteboards shouldn’t force a tradeoff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FE26B6-588A-CF6E-277F-55586802D723}"/>
              </a:ext>
            </a:extLst>
          </p:cNvPr>
          <p:cNvSpPr/>
          <p:nvPr/>
        </p:nvSpPr>
        <p:spPr>
          <a:xfrm>
            <a:off x="-12752" y="6227465"/>
            <a:ext cx="12217197" cy="660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5575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 pragmatic architecture for live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367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324074"/>
            <a:ext cx="2793930" cy="2147491"/>
          </a:xfrm>
          <a:prstGeom prst="roundRect">
            <a:avLst>
              <a:gd name="adj" fmla="val 532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7037" y="1343124"/>
            <a:ext cx="2755831" cy="660400"/>
          </a:xfrm>
          <a:prstGeom prst="rect">
            <a:avLst/>
          </a:prstGeom>
          <a:solidFill>
            <a:srgbClr val="BAC9DD"/>
          </a:solidFill>
          <a:ln/>
        </p:spPr>
      </p:sp>
      <p:sp>
        <p:nvSpPr>
          <p:cNvPr id="7" name="Shape 5"/>
          <p:cNvSpPr/>
          <p:nvPr/>
        </p:nvSpPr>
        <p:spPr>
          <a:xfrm>
            <a:off x="537256" y="1353344"/>
            <a:ext cx="2735194" cy="639763"/>
          </a:xfrm>
          <a:prstGeom prst="rect">
            <a:avLst/>
          </a:prstGeom>
          <a:solidFill>
            <a:srgbClr val="D4E3F7"/>
          </a:solidFill>
          <a:ln/>
        </p:spPr>
      </p:sp>
      <p:sp>
        <p:nvSpPr>
          <p:cNvPr id="8" name="Text 6"/>
          <p:cNvSpPr/>
          <p:nvPr/>
        </p:nvSpPr>
        <p:spPr>
          <a:xfrm>
            <a:off x="1835997" y="1549499"/>
            <a:ext cx="7473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2133" y="2060674"/>
            <a:ext cx="2609785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01 · CLIENT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2133" y="2262584"/>
            <a:ext cx="24256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2133" y="2602309"/>
            <a:ext cx="242563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Canvas, presence, and local-first editing.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01917" y="1324074"/>
            <a:ext cx="2793930" cy="2147491"/>
          </a:xfrm>
          <a:prstGeom prst="roundRect">
            <a:avLst>
              <a:gd name="adj" fmla="val 532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0967" y="1343124"/>
            <a:ext cx="2755831" cy="660400"/>
          </a:xfrm>
          <a:prstGeom prst="rect">
            <a:avLst/>
          </a:prstGeom>
          <a:solidFill>
            <a:srgbClr val="BAC9DD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1186" y="1353344"/>
            <a:ext cx="2735194" cy="639763"/>
          </a:xfrm>
          <a:prstGeom prst="rect">
            <a:avLst/>
          </a:prstGeom>
          <a:solidFill>
            <a:srgbClr val="D4E3F7"/>
          </a:solidFill>
          <a:ln/>
        </p:spPr>
      </p:sp>
      <p:sp>
        <p:nvSpPr>
          <p:cNvPr id="15" name="Text 13"/>
          <p:cNvSpPr/>
          <p:nvPr/>
        </p:nvSpPr>
        <p:spPr>
          <a:xfrm>
            <a:off x="4629927" y="1549499"/>
            <a:ext cx="7473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486063" y="2060674"/>
            <a:ext cx="2609785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02 · EDGE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86063" y="2262584"/>
            <a:ext cx="242563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NGINX / WebSocket gateway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86063" y="2840434"/>
            <a:ext cx="242563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Secure routing and connection edge.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1324074"/>
            <a:ext cx="2793930" cy="2147491"/>
          </a:xfrm>
          <a:prstGeom prst="roundRect">
            <a:avLst>
              <a:gd name="adj" fmla="val 532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4897" y="1343124"/>
            <a:ext cx="2755831" cy="660400"/>
          </a:xfrm>
          <a:prstGeom prst="rect">
            <a:avLst/>
          </a:prstGeom>
          <a:solidFill>
            <a:srgbClr val="BAC9DD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5116" y="1353344"/>
            <a:ext cx="2735194" cy="639763"/>
          </a:xfrm>
          <a:prstGeom prst="rect">
            <a:avLst/>
          </a:prstGeom>
          <a:solidFill>
            <a:srgbClr val="D4E3F7"/>
          </a:solidFill>
          <a:ln/>
        </p:spPr>
      </p:sp>
      <p:sp>
        <p:nvSpPr>
          <p:cNvPr id="22" name="Text 20"/>
          <p:cNvSpPr/>
          <p:nvPr/>
        </p:nvSpPr>
        <p:spPr>
          <a:xfrm>
            <a:off x="7423857" y="1549499"/>
            <a:ext cx="7473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279993" y="2060674"/>
            <a:ext cx="2609785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03 · COLLABORATION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79993" y="2262584"/>
            <a:ext cx="24256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Fastify + Hocuspocus / Yjs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79993" y="2602309"/>
            <a:ext cx="242563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Conflict-free sync and collaboration server.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95848" y="3114080"/>
            <a:ext cx="279393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· Redis · S3 / MinIO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89778" y="1324074"/>
            <a:ext cx="2793930" cy="2147491"/>
          </a:xfrm>
          <a:prstGeom prst="roundRect">
            <a:avLst>
              <a:gd name="adj" fmla="val 532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8827" y="1343124"/>
            <a:ext cx="2755831" cy="660400"/>
          </a:xfrm>
          <a:prstGeom prst="rect">
            <a:avLst/>
          </a:prstGeom>
          <a:solidFill>
            <a:srgbClr val="BAC9DD"/>
          </a:solidFill>
          <a:ln/>
        </p:spPr>
      </p:sp>
      <p:sp>
        <p:nvSpPr>
          <p:cNvPr id="29" name="Shape 27"/>
          <p:cNvSpPr/>
          <p:nvPr/>
        </p:nvSpPr>
        <p:spPr>
          <a:xfrm>
            <a:off x="8919046" y="1353344"/>
            <a:ext cx="2735194" cy="639763"/>
          </a:xfrm>
          <a:prstGeom prst="rect">
            <a:avLst/>
          </a:prstGeom>
          <a:solidFill>
            <a:srgbClr val="D4E3F7"/>
          </a:solidFill>
          <a:ln/>
        </p:spPr>
      </p:sp>
      <p:sp>
        <p:nvSpPr>
          <p:cNvPr id="30" name="Text 28"/>
          <p:cNvSpPr/>
          <p:nvPr/>
        </p:nvSpPr>
        <p:spPr>
          <a:xfrm>
            <a:off x="10217787" y="1549499"/>
            <a:ext cx="7473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073923" y="2060674"/>
            <a:ext cx="2609785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04 · DURABILITY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073923" y="2262584"/>
            <a:ext cx="24256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Persistent state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73923" y="2602309"/>
            <a:ext cx="242563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Durable data, presence, and assets remain independently addressable.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987" y="6227465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state stays responsive at the edge, conflict-free in collaboration, and durable in storage.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987" y="6555085"/>
            <a:ext cx="3066378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Enterprise whiteboards shouldn’t force a tradeoff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BCD8FD-C558-21C8-FEF7-17E88E73B79A}"/>
              </a:ext>
            </a:extLst>
          </p:cNvPr>
          <p:cNvSpPr/>
          <p:nvPr/>
        </p:nvSpPr>
        <p:spPr>
          <a:xfrm>
            <a:off x="-12752" y="6227465"/>
            <a:ext cx="12217197" cy="660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THE ENTERPRISE CASE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7099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Enterprise control without collaboration drag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916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390055"/>
            <a:ext cx="3521979" cy="4959945"/>
          </a:xfrm>
          <a:prstGeom prst="rect">
            <a:avLst/>
          </a:prstGeom>
          <a:noFill/>
          <a:ln/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987" y="1390055"/>
            <a:ext cx="3521979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36582" y="164663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5327" y="1656755"/>
            <a:ext cx="2944640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5327" y="1858665"/>
            <a:ext cx="2716045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100" spc="-9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Trust every connection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85327" y="2268538"/>
            <a:ext cx="27160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Zero-trust, JWT, RBAC, audit logs, validation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5327" y="2846387"/>
            <a:ext cx="271604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 identity, permissions, and change without interrupting the shared canvas.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4759" y="1390055"/>
            <a:ext cx="3522078" cy="4959945"/>
          </a:xfrm>
          <a:prstGeom prst="rect">
            <a:avLst/>
          </a:prstGeom>
          <a:noFill/>
          <a:ln/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759" y="1390055"/>
            <a:ext cx="3522078" cy="3810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4" name="Text 12"/>
          <p:cNvSpPr/>
          <p:nvPr/>
        </p:nvSpPr>
        <p:spPr>
          <a:xfrm>
            <a:off x="4563353" y="164663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2098" y="1656755"/>
            <a:ext cx="2944739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12098" y="1858665"/>
            <a:ext cx="2716145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100" spc="-9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Keep the canvas fluid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912098" y="2268538"/>
            <a:ext cx="27161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60 FPS · &lt;100ms sync target · offline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2098" y="2846387"/>
            <a:ext cx="271614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Support 50+ active editors while preserving a responsive local experience.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61629" y="1390055"/>
            <a:ext cx="3522078" cy="4959945"/>
          </a:xfrm>
          <a:prstGeom prst="rect">
            <a:avLst/>
          </a:prstGeom>
          <a:noFill/>
          <a:ln/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1629" y="1390055"/>
            <a:ext cx="3522078" cy="38100"/>
          </a:xfrm>
          <a:prstGeom prst="rect">
            <a:avLst/>
          </a:prstGeom>
          <a:solidFill>
            <a:srgbClr val="C0102F"/>
          </a:solidFill>
          <a:ln/>
        </p:spPr>
      </p:sp>
      <p:sp>
        <p:nvSpPr>
          <p:cNvPr id="21" name="Text 19"/>
          <p:cNvSpPr/>
          <p:nvPr/>
        </p:nvSpPr>
        <p:spPr>
          <a:xfrm>
            <a:off x="8390224" y="164663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8969" y="1656755"/>
            <a:ext cx="2944739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ADVANTAGE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38969" y="1858665"/>
            <a:ext cx="2716145" cy="540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100" spc="-9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Own the operating model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738969" y="2538710"/>
            <a:ext cx="27161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Open-source · enterprise-ready · self-hostable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8969" y="3116560"/>
            <a:ext cx="271614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Conflict-free collaboration with the freedom to deploy, inspect, and extend.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987" y="6555085"/>
            <a:ext cx="3066378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Enterprise whiteboards shouldn’t force a tradeoff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5C027A-AAF7-45B8-2726-A82D2B661422}"/>
              </a:ext>
            </a:extLst>
          </p:cNvPr>
          <p:cNvSpPr/>
          <p:nvPr/>
        </p:nvSpPr>
        <p:spPr>
          <a:xfrm>
            <a:off x="-12752" y="6227465"/>
            <a:ext cx="12217197" cy="660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11378915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SCALE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11182" y="760710"/>
            <a:ext cx="10769331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b="1" kern="100" spc="-18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From core canvas to enterprise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1182" y="2681684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BAC9DD"/>
          </a:solidFill>
          <a:ln/>
        </p:spPr>
      </p:sp>
      <p:sp>
        <p:nvSpPr>
          <p:cNvPr id="5" name="Shape 3"/>
          <p:cNvSpPr/>
          <p:nvPr/>
        </p:nvSpPr>
        <p:spPr>
          <a:xfrm>
            <a:off x="2793533" y="2186384"/>
            <a:ext cx="19050" cy="495300"/>
          </a:xfrm>
          <a:prstGeom prst="roundRect">
            <a:avLst>
              <a:gd name="adj" fmla="val 49999"/>
            </a:avLst>
          </a:prstGeom>
          <a:solidFill>
            <a:srgbClr val="BAC9DD"/>
          </a:solidFill>
          <a:ln/>
        </p:spPr>
      </p:sp>
      <p:sp>
        <p:nvSpPr>
          <p:cNvPr id="6" name="Shape 4"/>
          <p:cNvSpPr/>
          <p:nvPr/>
        </p:nvSpPr>
        <p:spPr>
          <a:xfrm>
            <a:off x="2617325" y="2495947"/>
            <a:ext cx="371466" cy="371475"/>
          </a:xfrm>
          <a:prstGeom prst="roundRect">
            <a:avLst>
              <a:gd name="adj" fmla="val 3077"/>
            </a:avLst>
          </a:prstGeom>
          <a:solidFill>
            <a:srgbClr val="D4E3F7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236" y="2543026"/>
            <a:ext cx="247644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100" spc="-10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76228" y="1501279"/>
            <a:ext cx="385365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6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Core Canvas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6278" y="1806674"/>
            <a:ext cx="385365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Fast, expressive whiteboarding.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8693" y="2681684"/>
            <a:ext cx="19050" cy="495300"/>
          </a:xfrm>
          <a:prstGeom prst="roundRect">
            <a:avLst>
              <a:gd name="adj" fmla="val 49999"/>
            </a:avLst>
          </a:prstGeom>
          <a:solidFill>
            <a:srgbClr val="BAC9DD"/>
          </a:solidFill>
          <a:ln/>
        </p:spPr>
      </p:sp>
      <p:sp>
        <p:nvSpPr>
          <p:cNvPr id="11" name="Shape 9"/>
          <p:cNvSpPr/>
          <p:nvPr/>
        </p:nvSpPr>
        <p:spPr>
          <a:xfrm>
            <a:off x="4812485" y="2495947"/>
            <a:ext cx="371466" cy="371475"/>
          </a:xfrm>
          <a:prstGeom prst="roundRect">
            <a:avLst>
              <a:gd name="adj" fmla="val 3077"/>
            </a:avLst>
          </a:prstGeom>
          <a:solidFill>
            <a:srgbClr val="D4E3F7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4396" y="2543026"/>
            <a:ext cx="247644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100" spc="-10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071339" y="3342084"/>
            <a:ext cx="385375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6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Real-Time CRDT Collaboration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71339" y="3647480"/>
            <a:ext cx="385375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Shared live state, even offline.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83853" y="2186384"/>
            <a:ext cx="19050" cy="495300"/>
          </a:xfrm>
          <a:prstGeom prst="roundRect">
            <a:avLst>
              <a:gd name="adj" fmla="val 49999"/>
            </a:avLst>
          </a:prstGeom>
          <a:solidFill>
            <a:srgbClr val="BAC9DD"/>
          </a:solidFill>
          <a:ln/>
        </p:spPr>
      </p:sp>
      <p:sp>
        <p:nvSpPr>
          <p:cNvPr id="16" name="Shape 14"/>
          <p:cNvSpPr/>
          <p:nvPr/>
        </p:nvSpPr>
        <p:spPr>
          <a:xfrm>
            <a:off x="7007645" y="2495947"/>
            <a:ext cx="371466" cy="371475"/>
          </a:xfrm>
          <a:prstGeom prst="roundRect">
            <a:avLst>
              <a:gd name="adj" fmla="val 3077"/>
            </a:avLst>
          </a:prstGeom>
          <a:solidFill>
            <a:srgbClr val="D4E3F7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9556" y="2543026"/>
            <a:ext cx="247644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100" spc="-10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266499" y="1501279"/>
            <a:ext cx="385375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6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Workspaces &amp;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499" y="1806674"/>
            <a:ext cx="385375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Identity, roles, history, and governance.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79013" y="2681684"/>
            <a:ext cx="19050" cy="495300"/>
          </a:xfrm>
          <a:prstGeom prst="roundRect">
            <a:avLst>
              <a:gd name="adj" fmla="val 49999"/>
            </a:avLst>
          </a:prstGeom>
          <a:solidFill>
            <a:srgbClr val="BAC9DD"/>
          </a:solidFill>
          <a:ln/>
        </p:spPr>
      </p:sp>
      <p:sp>
        <p:nvSpPr>
          <p:cNvPr id="21" name="Shape 19"/>
          <p:cNvSpPr/>
          <p:nvPr/>
        </p:nvSpPr>
        <p:spPr>
          <a:xfrm>
            <a:off x="9202805" y="2495947"/>
            <a:ext cx="371466" cy="371475"/>
          </a:xfrm>
          <a:prstGeom prst="roundRect">
            <a:avLst>
              <a:gd name="adj" fmla="val 3077"/>
            </a:avLst>
          </a:prstGeom>
          <a:solidFill>
            <a:srgbClr val="D4E3F7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4716" y="2543026"/>
            <a:ext cx="247644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100" spc="-10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61659" y="3342084"/>
            <a:ext cx="385375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kern="100" spc="-6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Enterprise Scaling &amp; Compliance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61659" y="3647480"/>
            <a:ext cx="385375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Self-hosted control at organizational scale.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1182" y="5881390"/>
            <a:ext cx="10769331" cy="67181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990575" y="6109990"/>
            <a:ext cx="1048993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 fast, secure, open-source collaborative whiteboard built for teams that need both freedom and enterprise-grade control.</a:t>
            </a:r>
            <a:endParaRPr lang="en-US" sz="13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6786D1-4B23-6B14-A593-66724E157FF6}"/>
              </a:ext>
            </a:extLst>
          </p:cNvPr>
          <p:cNvSpPr/>
          <p:nvPr/>
        </p:nvSpPr>
        <p:spPr>
          <a:xfrm>
            <a:off x="-12752" y="6574868"/>
            <a:ext cx="12217197" cy="660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Widescreen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Arimo Bold</vt:lpstr>
      <vt:lpstr>Arimo</vt:lpstr>
      <vt:lpstr>Arimo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shanjai muthu</cp:lastModifiedBy>
  <cp:revision>3</cp:revision>
  <dcterms:created xsi:type="dcterms:W3CDTF">2026-10-06T07:20:08Z</dcterms:created>
  <dcterms:modified xsi:type="dcterms:W3CDTF">2026-10-06T07:22:08Z</dcterms:modified>
</cp:coreProperties>
</file>